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097280"/>
            <a:ext cx="4206240" cy="4206240"/>
          </a:xfrm>
          <a:prstGeom prst="roundRect">
            <a:avLst>
              <a:gd name="adj" fmla="val 8696"/>
            </a:avLst>
          </a:prstGeom>
          <a:ln w="1905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023360"/>
            <a:ext cx="3474720" cy="3474720"/>
          </a:xfrm>
          <a:prstGeom prst="roundRect">
            <a:avLst>
              <a:gd name="adj" fmla="val 10526"/>
            </a:avLst>
          </a:prstGeom>
          <a:ln w="19050">
            <a:solidFill>
              <a:srgbClr val="123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1737360"/>
            <a:ext cx="146304" cy="146304"/>
          </a:xfrm>
          <a:prstGeom prst="ellipse">
            <a:avLst/>
          </a:prstGeom>
          <a:solidFill>
            <a:srgbClr val="5B8CFF"/>
          </a:solidFill>
          <a:ln/>
        </p:spPr>
      </p:sp>
      <p:sp>
        <p:nvSpPr>
          <p:cNvPr id="5" name="Shape 3"/>
          <p:cNvSpPr/>
          <p:nvPr/>
        </p:nvSpPr>
        <p:spPr>
          <a:xfrm>
            <a:off x="9052560" y="3200400"/>
            <a:ext cx="109728" cy="109728"/>
          </a:xfrm>
          <a:prstGeom prst="ellipse">
            <a:avLst/>
          </a:prstGeom>
          <a:solidFill>
            <a:srgbClr val="2DD4A7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371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716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· UNMSM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19659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inteligente de navegación y consultas del campus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8862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móvil con mapa interactivo y un asistente conversacional (RAG) anclado al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oficial de la Universidad Nacional Mayor de San Marcos.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22850"/>
            <a:ext cx="4206240" cy="12700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5138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Exposición final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 de Software · Equipo anycodef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anycodef — desarrollo full-stack, RAG y experiencia móvil.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393338" cy="1691640"/>
          </a:xfrm>
          <a:prstGeom prst="roundRect">
            <a:avLst>
              <a:gd name="adj" fmla="val 4324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258568"/>
            <a:ext cx="54864" cy="14721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2423160"/>
            <a:ext cx="566928" cy="566928"/>
          </a:xfrm>
          <a:prstGeom prst="ellipse">
            <a:avLst/>
          </a:prstGeom>
          <a:solidFill>
            <a:srgbClr val="1D1F26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2478024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Sota Rios, Pedro Josué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200400"/>
            <a:ext cx="2890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Mapa &amp; Mapbox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99178" y="2148840"/>
            <a:ext cx="3393338" cy="1691640"/>
          </a:xfrm>
          <a:prstGeom prst="roundRect">
            <a:avLst>
              <a:gd name="adj" fmla="val 4324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9178" y="2258568"/>
            <a:ext cx="54864" cy="14721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655210" y="2423160"/>
            <a:ext cx="566928" cy="566928"/>
          </a:xfrm>
          <a:prstGeom prst="ellipse">
            <a:avLst/>
          </a:prstGeom>
          <a:solidFill>
            <a:srgbClr val="1D1F26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521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59298" y="2478024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Condor Huarhuachi, Frank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73498" y="3200400"/>
            <a:ext cx="2890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· API &amp; despliegue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8277" y="2148840"/>
            <a:ext cx="3393338" cy="1691640"/>
          </a:xfrm>
          <a:prstGeom prst="roundRect">
            <a:avLst>
              <a:gd name="adj" fmla="val 4324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58277" y="2258568"/>
            <a:ext cx="54864" cy="14721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4" name="Shape 22"/>
          <p:cNvSpPr/>
          <p:nvPr/>
        </p:nvSpPr>
        <p:spPr>
          <a:xfrm>
            <a:off x="8414309" y="2423160"/>
            <a:ext cx="566928" cy="566928"/>
          </a:xfrm>
          <a:prstGeom prst="ellipse">
            <a:avLst/>
          </a:prstGeom>
          <a:solidFill>
            <a:srgbClr val="1D1F26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4309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18397" y="2478024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Patricio Julca, Vilberto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32597" y="3200400"/>
            <a:ext cx="2890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Chat &amp; navegación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251960"/>
            <a:ext cx="3393338" cy="1691640"/>
          </a:xfrm>
          <a:prstGeom prst="roundRect">
            <a:avLst>
              <a:gd name="adj" fmla="val 4324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61688"/>
            <a:ext cx="54864" cy="14721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30" name="Shape 28"/>
          <p:cNvSpPr/>
          <p:nvPr/>
        </p:nvSpPr>
        <p:spPr>
          <a:xfrm>
            <a:off x="896112" y="4526280"/>
            <a:ext cx="566928" cy="566928"/>
          </a:xfrm>
          <a:prstGeom prst="ellipse">
            <a:avLst/>
          </a:prstGeom>
          <a:solidFill>
            <a:srgbClr val="1D1F26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600200" y="4581144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Macchiavello Perez, Oscar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" y="5303520"/>
            <a:ext cx="2890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· RAG &amp; datos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99178" y="4251960"/>
            <a:ext cx="3393338" cy="1691640"/>
          </a:xfrm>
          <a:prstGeom prst="roundRect">
            <a:avLst>
              <a:gd name="adj" fmla="val 4324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99178" y="4361688"/>
            <a:ext cx="54864" cy="14721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655210" y="4526280"/>
            <a:ext cx="566928" cy="566928"/>
          </a:xfrm>
          <a:prstGeom prst="ellipse">
            <a:avLst/>
          </a:prstGeom>
          <a:solidFill>
            <a:srgbClr val="1D1F26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5521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359298" y="4581144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Lozano Paredes, Renzo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3498" y="5303520"/>
            <a:ext cx="2890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Rutas &amp; ubicaciones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58277" y="4251960"/>
            <a:ext cx="3393338" cy="1691640"/>
          </a:xfrm>
          <a:prstGeom prst="roundRect">
            <a:avLst>
              <a:gd name="adj" fmla="val 4324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58277" y="4361688"/>
            <a:ext cx="54864" cy="14721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42" name="Shape 40"/>
          <p:cNvSpPr/>
          <p:nvPr/>
        </p:nvSpPr>
        <p:spPr>
          <a:xfrm>
            <a:off x="8414309" y="4526280"/>
            <a:ext cx="566928" cy="566928"/>
          </a:xfrm>
          <a:prstGeom prst="ellipse">
            <a:avLst/>
          </a:prstGeom>
          <a:solidFill>
            <a:srgbClr val="1D1F26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14309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118397" y="4581144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 Ramos, Guillermo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32597" y="5303520"/>
            <a:ext cx="2890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· Pruebas &amp; documentación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94560"/>
            <a:ext cx="54864" cy="47548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10312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74520" y="210312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y problema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resolvemos y para quién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807208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898648"/>
            <a:ext cx="54864" cy="47548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807208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74520" y="2807208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 del proyecto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2807208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completa, servicios y flujos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511296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602736"/>
            <a:ext cx="54864" cy="47548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511296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874520" y="35112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0" y="3511296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móvil Expo / React Native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215384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06824"/>
            <a:ext cx="54864" cy="475488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215384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874520" y="4215384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858000" y="4215384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RAG con FastAPI, Gemini y pgvector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919472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10912"/>
            <a:ext cx="54864" cy="475488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919472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B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874520" y="491947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858000" y="4919472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app en funcionamiento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5715000"/>
            <a:ext cx="54864" cy="47548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562356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874520" y="56235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trabajo futuro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858000" y="5623560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y próximos pasos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Ciudad Universitaria de San Marcos es enorme y difícil de recorrer para quien no la conoce.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extenso: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decenas de facultades, oficinas y servicios dispersos en ~1.2 km².</a:t>
            </a:r>
            <a:endParaRPr lang="en-US" sz="135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guía unificada: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ingresantes, visitantes y postulantes se pierden buscando un lugar.</a:t>
            </a:r>
            <a:endParaRPr lang="en-US" sz="135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dispersa: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horarios, teléfonos y ubicaciones viven en fuentes distintas.</a:t>
            </a:r>
            <a:endParaRPr lang="en-US" sz="135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Señalización limitada: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una forma rápida de "¿cómo llego a…?".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37960" y="2103120"/>
            <a:ext cx="5013655" cy="3566160"/>
          </a:xfrm>
          <a:prstGeom prst="roundRect">
            <a:avLst>
              <a:gd name="adj" fmla="val 2051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212848"/>
            <a:ext cx="54864" cy="334670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739128" y="2221992"/>
            <a:ext cx="4647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 quién impacta?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12280" y="2697480"/>
            <a:ext cx="365760" cy="365760"/>
          </a:xfrm>
          <a:prstGeom prst="ellipse">
            <a:avLst/>
          </a:prstGeom>
          <a:solidFill>
            <a:srgbClr val="24304F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651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Ingresantes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6092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contacto con el campus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2280" y="3410712"/>
            <a:ext cx="365760" cy="365760"/>
          </a:xfrm>
          <a:prstGeom prst="ellipse">
            <a:avLst/>
          </a:prstGeom>
          <a:solidFill>
            <a:srgbClr val="24304F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3364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Postulantes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60920" y="3666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Ubicar OCA, aulas de examen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4123944"/>
            <a:ext cx="365760" cy="365760"/>
          </a:xfrm>
          <a:prstGeom prst="ellipse">
            <a:avLst/>
          </a:prstGeom>
          <a:solidFill>
            <a:srgbClr val="24304F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0782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Visitantes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6092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Trámites, eventos, biblioteca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12280" y="4837176"/>
            <a:ext cx="365760" cy="365760"/>
          </a:xfrm>
          <a:prstGeom prst="ellipse">
            <a:avLst/>
          </a:prstGeom>
          <a:solidFill>
            <a:srgbClr val="24304F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47914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 UNMSM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60920" y="50932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del día a día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solución: OndeSanMarcos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app que combina un mapa interactivo con un asistente que responde en lenguaje natural.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227168" cy="1600200"/>
          </a:xfrm>
          <a:prstGeom prst="roundRect">
            <a:avLst>
              <a:gd name="adj" fmla="val 4571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138074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interactivo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2761488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 facultades, oficinas y servicios sobre Mapbox con detalle 3D.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24448" y="2194560"/>
            <a:ext cx="5227168" cy="1600200"/>
          </a:xfrm>
          <a:prstGeom prst="roundRect">
            <a:avLst>
              <a:gd name="adj" fmla="val 4571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24448" y="2304288"/>
            <a:ext cx="54864" cy="138074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25616" y="231343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IA (RAG)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53048" y="2761488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preguntas del campus ancladas al conocimiento oficial.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27168" cy="1600200"/>
          </a:xfrm>
          <a:prstGeom prst="roundRect">
            <a:avLst>
              <a:gd name="adj" fmla="val 4571"/>
            </a:avLst>
          </a:prstGeom>
          <a:solidFill>
            <a:srgbClr val="16171C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224528"/>
            <a:ext cx="54864" cy="138074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423367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paso a paso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" y="4681728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 el camino peatonal desde tu ubicación hasta el destino.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24448" y="4114800"/>
            <a:ext cx="5227168" cy="1600200"/>
          </a:xfrm>
          <a:prstGeom prst="roundRect">
            <a:avLst>
              <a:gd name="adj" fmla="val 4571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4448" y="4224528"/>
            <a:ext cx="54864" cy="138074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24" name="Text 22"/>
          <p:cNvSpPr/>
          <p:nvPr/>
        </p:nvSpPr>
        <p:spPr>
          <a:xfrm>
            <a:off x="6525616" y="423367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→ Mapa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53048" y="4681728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"¿Cómo llego al rectorado?" abre el mapa y dibuja la ruta.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del proyecto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025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212848"/>
            <a:ext cx="54864" cy="339242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2219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2651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la orientación dentro del campus de la UNMSM mediante una app móvil que integre mapa, rutas y un asistente conversacional confiable.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" y="3925570"/>
            <a:ext cx="4773168" cy="12700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96112" y="43434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Precisión de la información</a:t>
            </a:r>
            <a:endParaRPr lang="en-US" sz="1200" dirty="0"/>
          </a:p>
          <a:p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 móvil fluida</a:t>
            </a:r>
            <a:endParaRPr lang="en-US" sz="1200" dirty="0"/>
          </a:p>
          <a:p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ancladas (sin inventar)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específicos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2514600"/>
            <a:ext cx="5196535" cy="6858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51460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86600" y="26060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Cartografía del campus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86600" y="28803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 lugares, coordenadas y entradas peatonales.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319272"/>
            <a:ext cx="5196535" cy="6858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31927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86600" y="34107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RAG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086600" y="3685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y generar respuestas del corpus oficial.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4123944"/>
            <a:ext cx="5196535" cy="6858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123944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86600" y="42153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Enrutamiento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086600" y="44897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más corto peatonal con grafo del campus.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55080" y="4928616"/>
            <a:ext cx="5196535" cy="6858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4928616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86600" y="50200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real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086600" y="5294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público y app instalable, reproducibles.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659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1D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del proyecto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7240" y="4041648"/>
            <a:ext cx="82296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24528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completa, servicios externos y el flujo de una consulta de extremo a extremo.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Composición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grandes piezas —app móvil y backend RAG— apoyadas en servicios gestionados.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258568"/>
            <a:ext cx="54864" cy="33009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2677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MÓVIL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2697480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6974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· React Native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" y="3227832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2278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(Mapbox)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" y="3758184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75818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asistente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68680" y="4288536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28853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peatonales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8680" y="4818888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81888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(Supabase)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214884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2258568"/>
            <a:ext cx="54864" cy="330098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25" name="Text 23"/>
          <p:cNvSpPr/>
          <p:nvPr/>
        </p:nvSpPr>
        <p:spPr>
          <a:xfrm>
            <a:off x="4590288" y="22677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RAG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17720" y="2697480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26974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17720" y="3227832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32278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RAG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17720" y="3758184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75818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+ pgvector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17720" y="4288536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428853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(Gemini)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17720" y="4818888"/>
            <a:ext cx="29718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9160" y="481888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138160" y="2148840"/>
            <a:ext cx="3413455" cy="3520440"/>
          </a:xfrm>
          <a:prstGeom prst="roundRect">
            <a:avLst>
              <a:gd name="adj" fmla="val 2143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2258568"/>
            <a:ext cx="54864" cy="330098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38" name="Text 36"/>
          <p:cNvSpPr/>
          <p:nvPr/>
        </p:nvSpPr>
        <p:spPr>
          <a:xfrm>
            <a:off x="8339328" y="2267712"/>
            <a:ext cx="3047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366760" y="2697480"/>
            <a:ext cx="2956255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58200" y="2697480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AI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366760" y="3227832"/>
            <a:ext cx="2956255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58200" y="3227832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(Postgres)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366760" y="3758184"/>
            <a:ext cx="2956255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58200" y="3758184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Mapbox GL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366760" y="4288536"/>
            <a:ext cx="2956255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458200" y="4288536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(hosting)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069080" y="3829368"/>
            <a:ext cx="237744" cy="22225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4262247" y="37719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49" name="Shape 47"/>
          <p:cNvSpPr/>
          <p:nvPr/>
        </p:nvSpPr>
        <p:spPr>
          <a:xfrm>
            <a:off x="7818120" y="3829368"/>
            <a:ext cx="237744" cy="22225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50" name="Shape 48"/>
          <p:cNvSpPr/>
          <p:nvPr/>
        </p:nvSpPr>
        <p:spPr>
          <a:xfrm rot="5400000">
            <a:off x="8011287" y="37719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51" name="Text 49"/>
          <p:cNvSpPr/>
          <p:nvPr/>
        </p:nvSpPr>
        <p:spPr>
          <a:xfrm>
            <a:off x="3886200" y="34564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635240" y="34564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completa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de una petición: del dispositivo al backend, y de éste a los servicios de IA y datos.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3200400" cy="1828800"/>
          </a:xfrm>
          <a:prstGeom prst="roundRect">
            <a:avLst>
              <a:gd name="adj" fmla="val 4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1762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· Móvil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1248" y="2514600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2514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41248" y="2843784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8437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Mapbox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41248" y="3172968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1729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(grafo)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41248" y="3502152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35021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Zustand · stores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874520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93208" y="19933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· Render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2860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/api/chat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74920" y="26060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66360" y="2606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74920" y="30632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30632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Retriever (top-k)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74920" y="35204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6360" y="35204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lugares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74920" y="39776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3977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· generación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74920" y="44348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66360" y="44348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 respuesta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189720" y="1965960"/>
            <a:ext cx="2361895" cy="9144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89720" y="2075688"/>
            <a:ext cx="54864" cy="69494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35" name="Text 33"/>
          <p:cNvSpPr/>
          <p:nvPr/>
        </p:nvSpPr>
        <p:spPr>
          <a:xfrm>
            <a:off x="9390888" y="2084832"/>
            <a:ext cx="1996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39088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+ embeddings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189720" y="3063240"/>
            <a:ext cx="2361895" cy="9144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89720" y="3172968"/>
            <a:ext cx="54864" cy="69494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9" name="Text 37"/>
          <p:cNvSpPr/>
          <p:nvPr/>
        </p:nvSpPr>
        <p:spPr>
          <a:xfrm>
            <a:off x="9390888" y="3182112"/>
            <a:ext cx="1996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390888" y="3520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pgvector · Postgres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189720" y="4160520"/>
            <a:ext cx="2361895" cy="914400"/>
          </a:xfrm>
          <a:prstGeom prst="roundRect">
            <a:avLst>
              <a:gd name="adj" fmla="val 8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89720" y="4270248"/>
            <a:ext cx="54864" cy="69494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43" name="Text 41"/>
          <p:cNvSpPr/>
          <p:nvPr/>
        </p:nvSpPr>
        <p:spPr>
          <a:xfrm>
            <a:off x="9390888" y="4279392"/>
            <a:ext cx="1996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Mapbox GL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390888" y="4617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Teselas / mapa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960688"/>
            <a:ext cx="969264" cy="22225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46" name="Shape 44"/>
          <p:cNvSpPr/>
          <p:nvPr/>
        </p:nvSpPr>
        <p:spPr>
          <a:xfrm rot="5400000">
            <a:off x="4765167" y="290322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47" name="Text 45"/>
          <p:cNvSpPr/>
          <p:nvPr/>
        </p:nvSpPr>
        <p:spPr>
          <a:xfrm>
            <a:off x="3794760" y="260604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JSON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 rot="-1150740">
            <a:off x="8109546" y="2610033"/>
            <a:ext cx="1031059" cy="19050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49" name="Shape 47"/>
          <p:cNvSpPr/>
          <p:nvPr/>
        </p:nvSpPr>
        <p:spPr>
          <a:xfrm rot="4249260">
            <a:off x="9066653" y="2377110"/>
            <a:ext cx="116586" cy="137160"/>
          </a:xfrm>
          <a:prstGeom prst="triangle">
            <a:avLst/>
          </a:prstGeom>
          <a:solidFill>
            <a:srgbClr val="F5B94D"/>
          </a:solidFill>
          <a:ln/>
        </p:spPr>
      </p:sp>
      <p:sp>
        <p:nvSpPr>
          <p:cNvPr id="50" name="Shape 48"/>
          <p:cNvSpPr/>
          <p:nvPr/>
        </p:nvSpPr>
        <p:spPr>
          <a:xfrm rot="735886">
            <a:off x="8126819" y="3387874"/>
            <a:ext cx="993825" cy="1905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1" name="Shape 49"/>
          <p:cNvSpPr/>
          <p:nvPr/>
        </p:nvSpPr>
        <p:spPr>
          <a:xfrm rot="6135886">
            <a:off x="9064412" y="3437292"/>
            <a:ext cx="116586" cy="137160"/>
          </a:xfrm>
          <a:prstGeom prst="triangle">
            <a:avLst/>
          </a:prstGeom>
          <a:solidFill>
            <a:srgbClr val="4ADE80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2199132" y="3919411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3" name="Shape 51"/>
          <p:cNvSpPr/>
          <p:nvPr/>
        </p:nvSpPr>
        <p:spPr>
          <a:xfrm rot="5400000">
            <a:off x="2199132" y="4065715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4" name="Shape 52"/>
          <p:cNvSpPr/>
          <p:nvPr/>
        </p:nvSpPr>
        <p:spPr>
          <a:xfrm rot="5400000">
            <a:off x="2199132" y="4212019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5" name="Shape 53"/>
          <p:cNvSpPr/>
          <p:nvPr/>
        </p:nvSpPr>
        <p:spPr>
          <a:xfrm rot="5400000">
            <a:off x="2199132" y="4358323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6" name="Shape 54"/>
          <p:cNvSpPr/>
          <p:nvPr/>
        </p:nvSpPr>
        <p:spPr>
          <a:xfrm rot="5400000">
            <a:off x="2199132" y="4504627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7" name="Shape 55"/>
          <p:cNvSpPr/>
          <p:nvPr/>
        </p:nvSpPr>
        <p:spPr>
          <a:xfrm rot="5400000">
            <a:off x="2199132" y="4650931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2199132" y="4797235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9" name="Shape 57"/>
          <p:cNvSpPr/>
          <p:nvPr/>
        </p:nvSpPr>
        <p:spPr>
          <a:xfrm rot="5400000">
            <a:off x="2199132" y="4943539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2199132" y="5089843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61" name="Shape 59"/>
          <p:cNvSpPr/>
          <p:nvPr/>
        </p:nvSpPr>
        <p:spPr>
          <a:xfrm rot="5400000">
            <a:off x="2199132" y="5236147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2199132" y="5382451"/>
            <a:ext cx="8229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63" name="Shape 61"/>
          <p:cNvSpPr/>
          <p:nvPr/>
        </p:nvSpPr>
        <p:spPr>
          <a:xfrm rot="5400000">
            <a:off x="2221992" y="5505895"/>
            <a:ext cx="36576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64" name="Shape 62"/>
          <p:cNvSpPr/>
          <p:nvPr/>
        </p:nvSpPr>
        <p:spPr>
          <a:xfrm rot="-449751">
            <a:off x="2210682" y="5072350"/>
            <a:ext cx="6927044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65" name="Shape 63"/>
          <p:cNvSpPr/>
          <p:nvPr/>
        </p:nvSpPr>
        <p:spPr>
          <a:xfrm rot="4950249">
            <a:off x="9063433" y="4558087"/>
            <a:ext cx="116586" cy="137160"/>
          </a:xfrm>
          <a:prstGeom prst="triangle">
            <a:avLst/>
          </a:prstGeom>
          <a:solidFill>
            <a:srgbClr val="5B8CFF"/>
          </a:solidFill>
          <a:ln/>
        </p:spPr>
      </p:sp>
      <p:sp>
        <p:nvSpPr>
          <p:cNvPr id="66" name="Text 64"/>
          <p:cNvSpPr/>
          <p:nvPr/>
        </p:nvSpPr>
        <p:spPr>
          <a:xfrm>
            <a:off x="4297680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pide teselas directo a Mapbox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40080" y="4160520"/>
            <a:ext cx="3200400" cy="960120"/>
          </a:xfrm>
          <a:prstGeom prst="roundRect">
            <a:avLst>
              <a:gd name="adj" fmla="val 5714"/>
            </a:avLst>
          </a:prstGeom>
          <a:solidFill>
            <a:srgbClr val="0E0E12"/>
          </a:solidFill>
          <a:ln w="12700">
            <a:solidFill>
              <a:srgbClr val="A78BFA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82296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Ingesta offline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822960" y="4526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unmsm_info.md → chunks →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→ pgvector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rot="-709289">
            <a:off x="3228812" y="3865420"/>
            <a:ext cx="5943385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71" name="Shape 69"/>
          <p:cNvSpPr/>
          <p:nvPr/>
        </p:nvSpPr>
        <p:spPr>
          <a:xfrm rot="4690711">
            <a:off x="9064302" y="3191590"/>
            <a:ext cx="116586" cy="137160"/>
          </a:xfrm>
          <a:prstGeom prst="triangle">
            <a:avLst/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258568"/>
            <a:ext cx="54864" cy="334670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267712"/>
            <a:ext cx="2087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697480"/>
            <a:ext cx="20420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~54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0.81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· TypeScript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Navigation 7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Zustand 5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@rnmapbox/maps 10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expo-location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59404" y="214884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59404" y="2258568"/>
            <a:ext cx="54864" cy="334670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5" name="Text 13"/>
          <p:cNvSpPr/>
          <p:nvPr/>
        </p:nvSpPr>
        <p:spPr>
          <a:xfrm>
            <a:off x="3660572" y="2267712"/>
            <a:ext cx="2087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88004" y="2697480"/>
            <a:ext cx="20420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0.136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2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google-genai 2.10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supabase-py 2.31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Uvicorn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8728" y="214884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2258568"/>
            <a:ext cx="54864" cy="334670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19" name="Text 17"/>
          <p:cNvSpPr/>
          <p:nvPr/>
        </p:nvSpPr>
        <p:spPr>
          <a:xfrm>
            <a:off x="6479896" y="2267712"/>
            <a:ext cx="2087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&amp; IA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07328" y="2697480"/>
            <a:ext cx="20420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gemini-embedding-001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· Postgres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pgvector (HNSW)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Mapbox GL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oficial UNMSM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98051" y="214884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051" y="2258568"/>
            <a:ext cx="54864" cy="334670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3" name="Text 21"/>
          <p:cNvSpPr/>
          <p:nvPr/>
        </p:nvSpPr>
        <p:spPr>
          <a:xfrm>
            <a:off x="9299219" y="2267712"/>
            <a:ext cx="2087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&amp; Dev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26651" y="2697480"/>
            <a:ext cx="20420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(blueprint)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· monorepo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Auto-deploy CI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 / Expo build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dotenv · secrets</a:t>
            </a:r>
            <a:endParaRPr lang="en-US" sz="1100" dirty="0"/>
          </a:p>
          <a:p>
            <a:pPr marL="152400" indent="-1524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(Supabase local)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servicios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 de cada servicio gestionado y cómo se conecta con el sistema.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257800" y="3063240"/>
            <a:ext cx="1691640" cy="1691640"/>
          </a:xfrm>
          <a:prstGeom prst="ellipse">
            <a:avLst/>
          </a:prstGeom>
          <a:solidFill>
            <a:srgbClr val="1D1F26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306324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88720" y="21488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258568"/>
            <a:ext cx="54864" cy="101498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4" name="Text 12"/>
          <p:cNvSpPr/>
          <p:nvPr/>
        </p:nvSpPr>
        <p:spPr>
          <a:xfrm>
            <a:off x="1389888" y="22677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08176" y="26243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 el backend FastAPI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auto-despliega en cada push.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412480" y="21488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2258568"/>
            <a:ext cx="54864" cy="101498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18" name="Text 16"/>
          <p:cNvSpPr/>
          <p:nvPr/>
        </p:nvSpPr>
        <p:spPr>
          <a:xfrm>
            <a:off x="8613648" y="22677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31936" y="26243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de generación y modelo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embeddings (768 dims).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188720" y="4160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" y="4270248"/>
            <a:ext cx="54864" cy="10149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2" name="Text 20"/>
          <p:cNvSpPr/>
          <p:nvPr/>
        </p:nvSpPr>
        <p:spPr>
          <a:xfrm>
            <a:off x="1389888" y="42793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08176" y="46360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+ pgvector para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búsqueda semántica y Auth.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412480" y="4160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0" y="4270248"/>
            <a:ext cx="54864" cy="10149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613648" y="42793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Mapbox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31936" y="46360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Teselas del mapa, estilo y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capas 3D del campus.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 rot="-9038535">
            <a:off x="3763984" y="3166916"/>
            <a:ext cx="1596319" cy="15875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29" name="Shape 27"/>
          <p:cNvSpPr/>
          <p:nvPr/>
        </p:nvSpPr>
        <p:spPr>
          <a:xfrm rot="-3638535">
            <a:off x="3796240" y="2708242"/>
            <a:ext cx="116586" cy="137160"/>
          </a:xfrm>
          <a:prstGeom prst="triangle">
            <a:avLst/>
          </a:prstGeom>
          <a:solidFill>
            <a:srgbClr val="2DD4A7"/>
          </a:solidFill>
          <a:ln/>
        </p:spPr>
      </p:sp>
      <p:sp>
        <p:nvSpPr>
          <p:cNvPr id="30" name="Shape 28"/>
          <p:cNvSpPr/>
          <p:nvPr/>
        </p:nvSpPr>
        <p:spPr>
          <a:xfrm rot="-1761465">
            <a:off x="6846937" y="3166916"/>
            <a:ext cx="1596319" cy="15875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31" name="Shape 29"/>
          <p:cNvSpPr/>
          <p:nvPr/>
        </p:nvSpPr>
        <p:spPr>
          <a:xfrm rot="3638535">
            <a:off x="8294414" y="2708242"/>
            <a:ext cx="116586" cy="137160"/>
          </a:xfrm>
          <a:prstGeom prst="triangle">
            <a:avLst/>
          </a:prstGeom>
          <a:solidFill>
            <a:srgbClr val="F5B94D"/>
          </a:solidFill>
          <a:ln/>
        </p:spPr>
      </p:sp>
      <p:sp>
        <p:nvSpPr>
          <p:cNvPr id="32" name="Shape 30"/>
          <p:cNvSpPr/>
          <p:nvPr/>
        </p:nvSpPr>
        <p:spPr>
          <a:xfrm rot="9758759">
            <a:off x="3840296" y="4414629"/>
            <a:ext cx="1450518" cy="15875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3" name="Shape 31"/>
          <p:cNvSpPr/>
          <p:nvPr/>
        </p:nvSpPr>
        <p:spPr>
          <a:xfrm rot="15158759">
            <a:off x="3801925" y="4574404"/>
            <a:ext cx="116586" cy="137160"/>
          </a:xfrm>
          <a:prstGeom prst="triangle">
            <a:avLst/>
          </a:prstGeom>
          <a:solidFill>
            <a:srgbClr val="4ADE80"/>
          </a:solidFill>
          <a:ln/>
        </p:spPr>
      </p:sp>
      <p:sp>
        <p:nvSpPr>
          <p:cNvPr id="34" name="Shape 32"/>
          <p:cNvSpPr/>
          <p:nvPr/>
        </p:nvSpPr>
        <p:spPr>
          <a:xfrm rot="1041241">
            <a:off x="6916426" y="4414629"/>
            <a:ext cx="1450518" cy="15875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35" name="Shape 33"/>
          <p:cNvSpPr/>
          <p:nvPr/>
        </p:nvSpPr>
        <p:spPr>
          <a:xfrm rot="6441241">
            <a:off x="8288729" y="4574404"/>
            <a:ext cx="116586" cy="137160"/>
          </a:xfrm>
          <a:prstGeom prst="triangle">
            <a:avLst/>
          </a:prstGeom>
          <a:solidFill>
            <a:srgbClr val="5B8CF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una consulta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"¿A qué hora abre la biblioteca?" — de la pregunta a la respuesta anclada.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340864"/>
            <a:ext cx="347472" cy="347472"/>
          </a:xfrm>
          <a:prstGeom prst="ellipse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23408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224028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consulta en el chat de la app.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-5400000">
            <a:off x="973836" y="2777998"/>
            <a:ext cx="9144" cy="1270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920115" y="2724912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2862072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62656"/>
            <a:ext cx="347472" cy="347472"/>
          </a:xfrm>
          <a:prstGeom prst="ellipse">
            <a:avLst/>
          </a:prstGeom>
          <a:solidFill>
            <a:srgbClr val="5B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móvil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0480" y="2862072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/api/chat { query } al backend en Render.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-5400000">
            <a:off x="973836" y="3399790"/>
            <a:ext cx="9144" cy="1270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920115" y="3346704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3483864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584448"/>
            <a:ext cx="347472" cy="347472"/>
          </a:xfrm>
          <a:prstGeom prst="ellipse">
            <a:avLst/>
          </a:prstGeom>
          <a:solidFill>
            <a:srgbClr val="2DD4A7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584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71600" y="34838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40480" y="3483864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 del dominio UNMSM? Si no, declina.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 rot="-5400000">
            <a:off x="973836" y="4021582"/>
            <a:ext cx="9144" cy="1270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30" name="Shape 28"/>
          <p:cNvSpPr/>
          <p:nvPr/>
        </p:nvSpPr>
        <p:spPr>
          <a:xfrm rot="10800000">
            <a:off x="920115" y="3968496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080" y="4105656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" y="4206240"/>
            <a:ext cx="347472" cy="347472"/>
          </a:xfrm>
          <a:prstGeom prst="ellipse">
            <a:avLst/>
          </a:prstGeom>
          <a:solidFill>
            <a:srgbClr val="2DD4A7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7160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Recuperación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840480" y="4105656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Embebe la consulta y busca en pgvector (coseno).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 rot="-5400000">
            <a:off x="973836" y="4643374"/>
            <a:ext cx="9144" cy="1270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37" name="Shape 35"/>
          <p:cNvSpPr/>
          <p:nvPr/>
        </p:nvSpPr>
        <p:spPr>
          <a:xfrm rot="10800000">
            <a:off x="920115" y="4590288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38" name="Shape 36"/>
          <p:cNvSpPr/>
          <p:nvPr/>
        </p:nvSpPr>
        <p:spPr>
          <a:xfrm>
            <a:off x="640080" y="4727448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4828032"/>
            <a:ext cx="347472" cy="347472"/>
          </a:xfrm>
          <a:prstGeom prst="ellipse">
            <a:avLst/>
          </a:prstGeom>
          <a:solidFill>
            <a:srgbClr val="F5B94D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4828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371600" y="47274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840480" y="4727448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 la respuesta anclada al contexto recuperado.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 rot="-5400000">
            <a:off x="973836" y="5265166"/>
            <a:ext cx="9144" cy="1270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920115" y="521208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5349240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5449824"/>
            <a:ext cx="347472" cy="347472"/>
          </a:xfrm>
          <a:prstGeom prst="ellipse">
            <a:avLst/>
          </a:prstGeom>
          <a:solidFill>
            <a:srgbClr val="5B8CFF"/>
          </a:solidFill>
          <a:ln/>
        </p:spPr>
      </p:sp>
      <p:sp>
        <p:nvSpPr>
          <p:cNvPr id="47" name="Text 45"/>
          <p:cNvSpPr/>
          <p:nvPr/>
        </p:nvSpPr>
        <p:spPr>
          <a:xfrm>
            <a:off x="804672" y="5449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37160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40480" y="534924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answer, locations, draw_route } de vuelta a la app.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despliegue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componente vive donde mejor rinde; el repositorio es la fuente de la verdad.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general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3332378" cy="333756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11810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Dispositivo del usuario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292089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Expo / React Native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 EAS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Cachea mapa y estado local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 teselas a Mapbox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2458" y="3830955"/>
            <a:ext cx="374904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4302785" y="37719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16" name="Shape 14"/>
          <p:cNvSpPr/>
          <p:nvPr/>
        </p:nvSpPr>
        <p:spPr>
          <a:xfrm>
            <a:off x="4429658" y="2194560"/>
            <a:ext cx="3332378" cy="333756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29658" y="2304288"/>
            <a:ext cx="54864" cy="311810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8" name="Text 16"/>
          <p:cNvSpPr/>
          <p:nvPr/>
        </p:nvSpPr>
        <p:spPr>
          <a:xfrm>
            <a:off x="4630826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Nube de aplicación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58258" y="2743200"/>
            <a:ext cx="292089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· web service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Uvicorn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 render.yaml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Auto-deploy en push a main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62037" y="3830955"/>
            <a:ext cx="374904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8092364" y="37719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9237" y="2194560"/>
            <a:ext cx="3332378" cy="333756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19237" y="2304288"/>
            <a:ext cx="54864" cy="311810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24" name="Text 22"/>
          <p:cNvSpPr/>
          <p:nvPr/>
        </p:nvSpPr>
        <p:spPr>
          <a:xfrm>
            <a:off x="8420405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Nube de datos e IA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447837" y="2743200"/>
            <a:ext cx="292089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· Postgres + pgvector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Secretos por variables de entorno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 reproducible (schema.sql)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659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1D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móvil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7240" y="4041648"/>
            <a:ext cx="822960" cy="5486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24528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+ React Native · mapa interactivo, asistente conversacional y enrutamiento peatonal.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general de la 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multiplataforma construida con Expo; UI declarativa por features y estado global ligero.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5669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Multiplataforma: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código para Android e iOS con Expo / React Native.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por features: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dominio (map, chat, routing, auth) es autocontenido.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con Zustand: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pequeños y desacoplados, sin boilerplate.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nativo: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@rnmapbox/maps para rendimiento y capas 3D del campus.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el backend: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HTTP tipado contra /api/chat, con modo mock de respaldo.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20840" y="2148840"/>
            <a:ext cx="4830775" cy="3566160"/>
          </a:xfrm>
          <a:prstGeom prst="roundRect">
            <a:avLst>
              <a:gd name="adj" fmla="val 2051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2258568"/>
            <a:ext cx="54864" cy="334670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922008" y="226771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números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49440" y="2697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321040" y="2697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de dominio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4944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2104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Zustand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49440" y="4160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37+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1040" y="4160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lugares del campus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9440" y="4892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21040" y="4892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modos: real / mock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por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 organizado por dominio; el núcleo (core) y los servicios son transversales.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0312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16171C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221992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2514600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514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navigation/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34840" y="2514600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2514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store/ (Zustand)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01000" y="2514600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2514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providers/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1546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3273552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features/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68680" y="3611880"/>
            <a:ext cx="1907987" cy="777240"/>
          </a:xfrm>
          <a:prstGeom prst="roundRect">
            <a:avLst>
              <a:gd name="adj" fmla="val 7059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auth/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391363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005267" y="3611880"/>
            <a:ext cx="1907987" cy="777240"/>
          </a:xfrm>
          <a:prstGeom prst="roundRect">
            <a:avLst>
              <a:gd name="adj" fmla="val 7059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05267" y="363931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map/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05267" y="391363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141854" y="3611880"/>
            <a:ext cx="1907987" cy="777240"/>
          </a:xfrm>
          <a:prstGeom prst="roundRect">
            <a:avLst>
              <a:gd name="adj" fmla="val 7059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41854" y="363931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chat/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41854" y="391363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278441" y="3611880"/>
            <a:ext cx="1907987" cy="777240"/>
          </a:xfrm>
          <a:prstGeom prst="roundRect">
            <a:avLst>
              <a:gd name="adj" fmla="val 7059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78441" y="363931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routing/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78441" y="391363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15028" y="3611880"/>
            <a:ext cx="1907987" cy="777240"/>
          </a:xfrm>
          <a:prstGeom prst="roundRect">
            <a:avLst>
              <a:gd name="adj" fmla="val 7059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5028" y="363931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profile/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15028" y="3913632"/>
            <a:ext cx="1907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40080" y="4709160"/>
            <a:ext cx="5760720" cy="960120"/>
          </a:xfrm>
          <a:prstGeom prst="roundRect">
            <a:avLst>
              <a:gd name="adj" fmla="val 7619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48280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services/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68680" y="5138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51389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api/ (client, chatApi)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566160" y="5138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0" y="51389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 (auth, client)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20840" y="4709160"/>
            <a:ext cx="4830775" cy="960120"/>
          </a:xfrm>
          <a:prstGeom prst="roundRect">
            <a:avLst>
              <a:gd name="adj" fmla="val 7619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22008" y="482803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shared/ · theme/ · constants/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949440" y="5138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UI, tokens de tema, Config (env)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módulos (chat)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colaboran pantalla, hook, stores y cliente HTTP al enviar una consulta.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2788920" cy="1371600"/>
          </a:xfrm>
          <a:prstGeom prst="roundRect">
            <a:avLst>
              <a:gd name="adj" fmla="val 3333"/>
            </a:avLst>
          </a:prstGeom>
          <a:solidFill>
            <a:srgbClr val="16171C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148840"/>
            <a:ext cx="278892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7627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«screen»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229514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ChatScreen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526538"/>
            <a:ext cx="2788920" cy="1270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256946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messages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inputText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020314"/>
            <a:ext cx="2788920" cy="1270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06324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sendMessage()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renderMessage()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2788920" cy="1371600"/>
          </a:xfrm>
          <a:prstGeom prst="roundRect">
            <a:avLst>
              <a:gd name="adj" fmla="val 3333"/>
            </a:avLst>
          </a:prstGeom>
          <a:solidFill>
            <a:srgbClr val="16171C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160520"/>
            <a:ext cx="278892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8795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«hook»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40080" y="430682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useChat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538218"/>
            <a:ext cx="2788920" cy="1270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458114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chatState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isLoading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5031994"/>
            <a:ext cx="2788920" cy="1270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507492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requestReply()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retryMessage()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43400" y="2148840"/>
            <a:ext cx="2788920" cy="1371600"/>
          </a:xfrm>
          <a:prstGeom prst="roundRect">
            <a:avLst>
              <a:gd name="adj" fmla="val 3333"/>
            </a:avLst>
          </a:prstGeom>
          <a:solidFill>
            <a:srgbClr val="16171C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43400" y="2148840"/>
            <a:ext cx="278892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28" name="Text 26"/>
          <p:cNvSpPr/>
          <p:nvPr/>
        </p:nvSpPr>
        <p:spPr>
          <a:xfrm>
            <a:off x="4343400" y="217627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«store»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343400" y="229514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useChatStore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43400" y="2526538"/>
            <a:ext cx="2788920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1" name="Text 29"/>
          <p:cNvSpPr/>
          <p:nvPr/>
        </p:nvSpPr>
        <p:spPr>
          <a:xfrm>
            <a:off x="4453128" y="256946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conversations[]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activeId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43400" y="3020314"/>
            <a:ext cx="2788920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3" name="Text 31"/>
          <p:cNvSpPr/>
          <p:nvPr/>
        </p:nvSpPr>
        <p:spPr>
          <a:xfrm>
            <a:off x="4453128" y="306324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addMessage()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startNew()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43400" y="4160520"/>
            <a:ext cx="2788920" cy="1147572"/>
          </a:xfrm>
          <a:prstGeom prst="roundRect">
            <a:avLst>
              <a:gd name="adj" fmla="val 3984"/>
            </a:avLst>
          </a:prstGeom>
          <a:solidFill>
            <a:srgbClr val="16171C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3400" y="4160520"/>
            <a:ext cx="278892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36" name="Text 34"/>
          <p:cNvSpPr/>
          <p:nvPr/>
        </p:nvSpPr>
        <p:spPr>
          <a:xfrm>
            <a:off x="4343400" y="418795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«store»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343400" y="430682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useMapStore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343400" y="4538218"/>
            <a:ext cx="2788920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9" name="Text 37"/>
          <p:cNvSpPr/>
          <p:nvPr/>
        </p:nvSpPr>
        <p:spPr>
          <a:xfrm>
            <a:off x="4453128" y="458114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focusTarget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userLocation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43400" y="5031994"/>
            <a:ext cx="2788920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1" name="Text 39"/>
          <p:cNvSpPr/>
          <p:nvPr/>
        </p:nvSpPr>
        <p:spPr>
          <a:xfrm>
            <a:off x="4453128" y="5074920"/>
            <a:ext cx="2606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setFocusTarget()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275320" y="2148840"/>
            <a:ext cx="2880360" cy="877824"/>
          </a:xfrm>
          <a:prstGeom prst="roundRect">
            <a:avLst>
              <a:gd name="adj" fmla="val 5208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75320" y="2148840"/>
            <a:ext cx="288036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44" name="Text 42"/>
          <p:cNvSpPr/>
          <p:nvPr/>
        </p:nvSpPr>
        <p:spPr>
          <a:xfrm>
            <a:off x="8275320" y="2176272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«service»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8275320" y="229514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75320" y="2526538"/>
            <a:ext cx="2880360" cy="12700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47" name="Text 45"/>
          <p:cNvSpPr/>
          <p:nvPr/>
        </p:nvSpPr>
        <p:spPr>
          <a:xfrm>
            <a:off x="8385048" y="2569464"/>
            <a:ext cx="2697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sendChatQuery(q)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normaliza snake→camel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275320" y="3794760"/>
            <a:ext cx="2880360" cy="1147572"/>
          </a:xfrm>
          <a:prstGeom prst="roundRect">
            <a:avLst>
              <a:gd name="adj" fmla="val 3984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75320" y="3794760"/>
            <a:ext cx="288036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50" name="Text 48"/>
          <p:cNvSpPr/>
          <p:nvPr/>
        </p:nvSpPr>
        <p:spPr>
          <a:xfrm>
            <a:off x="8275320" y="3822192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«service»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8275320" y="394106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apiClient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275320" y="4172458"/>
            <a:ext cx="2880360" cy="12700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3" name="Text 51"/>
          <p:cNvSpPr/>
          <p:nvPr/>
        </p:nvSpPr>
        <p:spPr>
          <a:xfrm>
            <a:off x="8385048" y="4215384"/>
            <a:ext cx="2697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baseUrl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timeout 60s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275320" y="4666234"/>
            <a:ext cx="2880360" cy="12700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5" name="Text 53"/>
          <p:cNvSpPr/>
          <p:nvPr/>
        </p:nvSpPr>
        <p:spPr>
          <a:xfrm>
            <a:off x="8385048" y="4709160"/>
            <a:ext cx="26974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post() · AbortController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 rot="-5400000">
            <a:off x="1824228" y="3965131"/>
            <a:ext cx="374904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57" name="Shape 55"/>
          <p:cNvSpPr/>
          <p:nvPr/>
        </p:nvSpPr>
        <p:spPr>
          <a:xfrm>
            <a:off x="1953387" y="370332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58" name="Shape 56"/>
          <p:cNvSpPr/>
          <p:nvPr/>
        </p:nvSpPr>
        <p:spPr>
          <a:xfrm rot="794431">
            <a:off x="2768788" y="2908718"/>
            <a:ext cx="1514635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59" name="Shape 57"/>
          <p:cNvSpPr/>
          <p:nvPr/>
        </p:nvSpPr>
        <p:spPr>
          <a:xfrm rot="6194431">
            <a:off x="4218350" y="3024672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60" name="Shape 58"/>
          <p:cNvSpPr/>
          <p:nvPr/>
        </p:nvSpPr>
        <p:spPr>
          <a:xfrm rot="201988">
            <a:off x="2787647" y="4881686"/>
            <a:ext cx="1474871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61" name="Shape 59"/>
          <p:cNvSpPr/>
          <p:nvPr/>
        </p:nvSpPr>
        <p:spPr>
          <a:xfrm rot="5601988">
            <a:off x="4216645" y="4865153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62" name="Shape 60"/>
          <p:cNvSpPr/>
          <p:nvPr/>
        </p:nvSpPr>
        <p:spPr>
          <a:xfrm rot="-895885">
            <a:off x="2694448" y="3751705"/>
            <a:ext cx="5595826" cy="15875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63" name="Shape 61"/>
          <p:cNvSpPr/>
          <p:nvPr/>
        </p:nvSpPr>
        <p:spPr>
          <a:xfrm rot="4504115">
            <a:off x="8150763" y="2966611"/>
            <a:ext cx="116586" cy="137160"/>
          </a:xfrm>
          <a:prstGeom prst="triangle">
            <a:avLst/>
          </a:prstGeom>
          <a:solidFill>
            <a:srgbClr val="2DD4A7"/>
          </a:solidFill>
          <a:ln/>
        </p:spPr>
      </p:sp>
      <p:sp>
        <p:nvSpPr>
          <p:cNvPr id="64" name="Shape 62"/>
          <p:cNvSpPr/>
          <p:nvPr/>
        </p:nvSpPr>
        <p:spPr>
          <a:xfrm rot="-5400000">
            <a:off x="9491472" y="3585655"/>
            <a:ext cx="402336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65" name="Shape 63"/>
          <p:cNvSpPr/>
          <p:nvPr/>
        </p:nvSpPr>
        <p:spPr>
          <a:xfrm>
            <a:off x="9634347" y="3310128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estado · Zustand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stores independientes; se persiste lo necesario en AsyncStorage.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227168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133502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useChatStore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Conversaciones, mensajes, estado del chat e historial.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68680" y="329184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· AsyncStorage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324448" y="2194560"/>
            <a:ext cx="5227168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4448" y="2304288"/>
            <a:ext cx="54864" cy="133502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8" name="Text 16"/>
          <p:cNvSpPr/>
          <p:nvPr/>
        </p:nvSpPr>
        <p:spPr>
          <a:xfrm>
            <a:off x="6525616" y="231343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useMapStore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53048" y="274320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focusTarget, ubicación del usuario, ruta activa, lugar enfocado.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53048" y="329184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4488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· en memoria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0080" y="4069080"/>
            <a:ext cx="5227168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178808"/>
            <a:ext cx="54864" cy="133502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1879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useThemeStore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461772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claro/oscuro y color primario de la UI.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68680" y="51663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· AsyncStorage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324448" y="4069080"/>
            <a:ext cx="5227168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24448" y="4178808"/>
            <a:ext cx="54864" cy="133502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30" name="Text 28"/>
          <p:cNvSpPr/>
          <p:nvPr/>
        </p:nvSpPr>
        <p:spPr>
          <a:xfrm>
            <a:off x="6525616" y="41879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useAuthStore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53048" y="461772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y perfil del usuario (vía Supabase Auth).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53048" y="51663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44488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· sesión Supabase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Navigation: un stack de autenticación y, tras iniciar sesión, las pestañas principales.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892040" y="214884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16171C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93208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AppNavigator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5840" y="320040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310128"/>
            <a:ext cx="54864" cy="197510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07008" y="331927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AuthStack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88720" y="37033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3703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188720" y="4032504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4032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88720" y="436168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4361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469087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4690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188720" y="502005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50200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EmailSent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92040" y="3200400"/>
            <a:ext cx="2423160" cy="2194560"/>
          </a:xfrm>
          <a:prstGeom prst="roundRect">
            <a:avLst>
              <a:gd name="adj" fmla="val 3333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2040" y="3310128"/>
            <a:ext cx="54864" cy="197510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7" name="Text 25"/>
          <p:cNvSpPr/>
          <p:nvPr/>
        </p:nvSpPr>
        <p:spPr>
          <a:xfrm>
            <a:off x="5093208" y="33192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MainTabs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74920" y="370332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6636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74920" y="416052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6360" y="4160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74920" y="461772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66360" y="46177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503920" y="320040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03920" y="3310128"/>
            <a:ext cx="54864" cy="197510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36" name="Text 34"/>
          <p:cNvSpPr/>
          <p:nvPr/>
        </p:nvSpPr>
        <p:spPr>
          <a:xfrm>
            <a:off x="8705088" y="331927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ProfileStack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686800" y="37033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0" y="370332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686800" y="4105656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0" y="41056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Editar perfil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686800" y="4507992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450799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686800" y="491032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0" y="49103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Notificaciones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 rot="9910411">
            <a:off x="4077517" y="2976193"/>
            <a:ext cx="1525723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46" name="Shape 44"/>
          <p:cNvSpPr/>
          <p:nvPr/>
        </p:nvSpPr>
        <p:spPr>
          <a:xfrm rot="15310411">
            <a:off x="4031364" y="3114271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47" name="Text 45"/>
          <p:cNvSpPr/>
          <p:nvPr/>
        </p:nvSpPr>
        <p:spPr>
          <a:xfrm>
            <a:off x="3566160" y="28803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sesión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 rot="5400000">
            <a:off x="5934456" y="2945575"/>
            <a:ext cx="329184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6040755" y="306324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50" name="Text 48"/>
          <p:cNvSpPr/>
          <p:nvPr/>
        </p:nvSpPr>
        <p:spPr>
          <a:xfrm>
            <a:off x="6126480" y="285292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sesión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315200" y="4289743"/>
            <a:ext cx="1106424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8377047" y="422910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FEATURE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interactivo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corazón visual: ubica lugares, sigue al usuario y dibuja rutas sobre Mapbox.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Mapbox nativo: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estilo del campus, capas 3D de edificios y marcadores por categoría.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en vivo: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expo-location + brújula para seguir y orientar al usuario.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de lugar: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horario, servicios y acción "cómo llegar" al tocar un punto.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Modos: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libre, guía y selección de ruta (origen → destino).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32520" y="2148840"/>
            <a:ext cx="2331720" cy="3520440"/>
          </a:xfrm>
          <a:prstGeom prst="roundRect">
            <a:avLst>
              <a:gd name="adj" fmla="val 5490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9642348" y="224028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13" name="Text 11"/>
          <p:cNvSpPr/>
          <p:nvPr/>
        </p:nvSpPr>
        <p:spPr>
          <a:xfrm>
            <a:off x="8732520" y="34061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05672" y="3771900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mapa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marcadores y ruta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41080" y="57241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MapScreen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FEATURE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conversacional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que consume el backend RAG y, si detecta intención de ruta, salta al mapa.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en lenguaje natural: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"¿dónde queda la biblioteca?", "horario del comedor".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ancladas: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 tarjetas de lugar con "Ver en mapa".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→ Mapa (HU-2.3):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"cómo llego a…" fija el destino y dibuja la ruta.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Resiliencia: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de 60 s, botón Reintentar y modo mock de respaldo.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32520" y="2148840"/>
            <a:ext cx="2331720" cy="3520440"/>
          </a:xfrm>
          <a:prstGeom prst="roundRect">
            <a:avLst>
              <a:gd name="adj" fmla="val 5490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9642348" y="224028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13" name="Text 11"/>
          <p:cNvSpPr/>
          <p:nvPr/>
        </p:nvSpPr>
        <p:spPr>
          <a:xfrm>
            <a:off x="8732520" y="34061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05672" y="3771900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 con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tarjetas de lugar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41080" y="57241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ChatScreen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FEATURE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Enrutamiento peatonal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camino más corto se calcula en el dispositivo sobre un grafo del campus.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20954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Grafo del campus:  </a:t>
            </a:r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nodos y aristas de caminos (rutas-caminos.json).</a:t>
            </a:r>
            <a:endParaRPr lang="en-US" sz="1200" dirty="0"/>
          </a:p>
          <a:p>
            <a:pPr algn="l" indent="0" marL="0">
              <a:lnSpc>
                <a:spcPct val="150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Dijkstra:  </a:t>
            </a:r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pathfinder.ts calcula el camino mínimo origen→destino.</a:t>
            </a:r>
            <a:endParaRPr lang="en-US" sz="1200" dirty="0"/>
          </a:p>
          <a:p>
            <a:pPr algn="l" indent="0" marL="0">
              <a:lnSpc>
                <a:spcPct val="150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Distancia real:  </a:t>
            </a:r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de tramos con fórmula de Haversine.</a:t>
            </a:r>
            <a:endParaRPr lang="en-US" sz="1200" dirty="0"/>
          </a:p>
          <a:p>
            <a:pPr algn="l" indent="0" marL="0">
              <a:lnSpc>
                <a:spcPct val="150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peatonales:  </a:t>
            </a:r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 la entrada del lugar, no su centro.</a:t>
            </a:r>
            <a:endParaRPr lang="en-US" sz="1200" dirty="0"/>
          </a:p>
          <a:p>
            <a:pPr algn="l" indent="0" marL="0">
              <a:lnSpc>
                <a:spcPct val="150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cliente:  </a:t>
            </a:r>
            <a:pPr algn="l" marL="228600" indent="-2286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llamada al backend → respuesta instantánea.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60604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8430768" y="3219895"/>
            <a:ext cx="146304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8445627" y="324612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18" name="Shape 16"/>
          <p:cNvSpPr/>
          <p:nvPr/>
        </p:nvSpPr>
        <p:spPr>
          <a:xfrm>
            <a:off x="6537960" y="33832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3383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 rot="5400000">
            <a:off x="8430768" y="3997135"/>
            <a:ext cx="146304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1" name="Shape 19"/>
          <p:cNvSpPr/>
          <p:nvPr/>
        </p:nvSpPr>
        <p:spPr>
          <a:xfrm rot="10800000">
            <a:off x="8445627" y="402336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37960" y="416052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160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rot="5400000">
            <a:off x="8430768" y="4774375"/>
            <a:ext cx="146304" cy="15875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8445627" y="480060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37960" y="493776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4937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Polyline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FEATURE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e inicio de sesión gestionados por Supabase Auth desde el cliente.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email/contraseña con verificación por correo.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dedicado: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→ Onboarding → Login / Register → EmailSent.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persistida: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permanece autenticado entre aperturas.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editable: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correo y preferencias de tema.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32520" y="2148840"/>
            <a:ext cx="2331720" cy="3520440"/>
          </a:xfrm>
          <a:prstGeom prst="roundRect">
            <a:avLst>
              <a:gd name="adj" fmla="val 5490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9642348" y="224028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13" name="Text 11"/>
          <p:cNvSpPr/>
          <p:nvPr/>
        </p:nvSpPr>
        <p:spPr>
          <a:xfrm>
            <a:off x="8732520" y="34061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05672" y="3771900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Pantallas de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/ Login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41080" y="57241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AuthStack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con el backend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HTTP traduce el contrato del backend al modelo del frontend.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54864" cy="115214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5877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useChat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953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Orquesta el envío y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respuesta en la UI.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54680" y="3145155"/>
            <a:ext cx="283464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3393567" y="30861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16" name="Shape 14"/>
          <p:cNvSpPr/>
          <p:nvPr/>
        </p:nvSpPr>
        <p:spPr>
          <a:xfrm>
            <a:off x="3520440" y="2468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2578608"/>
            <a:ext cx="54864" cy="115214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8" name="Text 16"/>
          <p:cNvSpPr/>
          <p:nvPr/>
        </p:nvSpPr>
        <p:spPr>
          <a:xfrm>
            <a:off x="3721608" y="25877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chatApi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3989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sendChatQuery():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/api/chat.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3145155"/>
            <a:ext cx="283464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6273927" y="30861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0" y="2468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2578608"/>
            <a:ext cx="54864" cy="115214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68" y="25877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2025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+ timeout 60 s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(AbortController).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915400" y="3145155"/>
            <a:ext cx="283464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9154287" y="308610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1160" y="2468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1160" y="2578608"/>
            <a:ext cx="54864" cy="115214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30" name="Text 28"/>
          <p:cNvSpPr/>
          <p:nvPr/>
        </p:nvSpPr>
        <p:spPr>
          <a:xfrm>
            <a:off x="9482328" y="25877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50061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· FastAPI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/api/chat.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" y="4343400"/>
            <a:ext cx="10911535" cy="1325880"/>
          </a:xfrm>
          <a:prstGeom prst="roundRect">
            <a:avLst>
              <a:gd name="adj" fmla="val 5517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4453128"/>
            <a:ext cx="54864" cy="110642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4462272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Normalización del contrato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" y="4846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(snake_case):  { answer, locations, draw_route, destination }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840480" y="5184267"/>
            <a:ext cx="557784" cy="1905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37" name="Shape 35"/>
          <p:cNvSpPr/>
          <p:nvPr/>
        </p:nvSpPr>
        <p:spPr>
          <a:xfrm rot="5400000">
            <a:off x="4353687" y="5125212"/>
            <a:ext cx="116586" cy="137160"/>
          </a:xfrm>
          <a:prstGeom prst="triangle">
            <a:avLst/>
          </a:prstGeom>
          <a:solidFill>
            <a:srgbClr val="5B8CFF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257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(camelCase):  { answer, locations, drawRoute, destination }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Pantallas de la 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Espacios reservados para las capturas reales de la aplicación en el dispositivo.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1965960" cy="3246120"/>
          </a:xfrm>
          <a:prstGeom prst="roundRect">
            <a:avLst>
              <a:gd name="adj" fmla="val 6512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367028" y="228600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147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3680460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+ marcadores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4955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MapScreen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76474" y="2194560"/>
            <a:ext cx="1965960" cy="3246120"/>
          </a:xfrm>
          <a:prstGeom prst="roundRect">
            <a:avLst>
              <a:gd name="adj" fmla="val 6512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603422" y="228600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17" name="Text 15"/>
          <p:cNvSpPr/>
          <p:nvPr/>
        </p:nvSpPr>
        <p:spPr>
          <a:xfrm>
            <a:off x="2876474" y="33147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949626" y="3680460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de lugar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85034" y="54955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MapPlaceInfoCard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112868" y="2194560"/>
            <a:ext cx="1965960" cy="3246120"/>
          </a:xfrm>
          <a:prstGeom prst="roundRect">
            <a:avLst>
              <a:gd name="adj" fmla="val 6512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839816" y="228600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22" name="Text 20"/>
          <p:cNvSpPr/>
          <p:nvPr/>
        </p:nvSpPr>
        <p:spPr>
          <a:xfrm>
            <a:off x="5112868" y="33147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86020" y="3680460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asistente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21428" y="54955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ChatScreen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49261" y="2194560"/>
            <a:ext cx="1965960" cy="3246120"/>
          </a:xfrm>
          <a:prstGeom prst="roundRect">
            <a:avLst>
              <a:gd name="adj" fmla="val 6512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076209" y="228600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27" name="Text 25"/>
          <p:cNvSpPr/>
          <p:nvPr/>
        </p:nvSpPr>
        <p:spPr>
          <a:xfrm>
            <a:off x="7349261" y="33147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22413" y="3680460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trazada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257821" y="54955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MapRouteInfoCard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85655" y="2194560"/>
            <a:ext cx="1965960" cy="3246120"/>
          </a:xfrm>
          <a:prstGeom prst="roundRect">
            <a:avLst>
              <a:gd name="adj" fmla="val 6512"/>
            </a:avLst>
          </a:prstGeom>
          <a:solidFill>
            <a:srgbClr val="0E0E12"/>
          </a:solidFill>
          <a:ln w="15875">
            <a:solidFill>
              <a:srgbClr val="5B8CFF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10312603" y="2286000"/>
            <a:ext cx="512064" cy="91440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/>
        </p:spPr>
      </p:sp>
      <p:sp>
        <p:nvSpPr>
          <p:cNvPr id="32" name="Text 30"/>
          <p:cNvSpPr/>
          <p:nvPr/>
        </p:nvSpPr>
        <p:spPr>
          <a:xfrm>
            <a:off x="9585655" y="33147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658807" y="3680460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/ Perfil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94215" y="54955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AuthStack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659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1D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RAG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7240" y="4041648"/>
            <a:ext cx="822960" cy="5486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24528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Gemini + pgvector · recuperación semántica sobre el conocimiento oficial del campus.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general del backend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servicio FastAPI que implementa RAG: recupera contexto verificado y genera respuestas con un LLM.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5669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(Retrieval-Augmented Generation):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LLM responde solo con contexto recuperado del corpus.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Proveedores intercambiables: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(tests, offline) o real (Gemini + pgvector) tras una interfaz.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mínimo: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/health y POST /api/chat; errores de proveedor → HTTP 503.</a:t>
            </a:r>
            <a:endParaRPr lang="en-US" sz="1300" dirty="0"/>
          </a:p>
          <a:p>
            <a:pPr algn="l" indent="0" marL="0">
              <a:lnSpc>
                <a:spcPct val="155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oficial:  </a:t>
            </a:r>
            <a:pPr algn="l" marL="228600" indent="-2286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37+ lugares y 41 documentos derivados de un doc verificado del campus.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20840" y="2148840"/>
            <a:ext cx="4830775" cy="3566160"/>
          </a:xfrm>
          <a:prstGeom prst="roundRect">
            <a:avLst>
              <a:gd name="adj" fmla="val 2051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2258568"/>
            <a:ext cx="54864" cy="334670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3" name="Text 11"/>
          <p:cNvSpPr/>
          <p:nvPr/>
        </p:nvSpPr>
        <p:spPr>
          <a:xfrm>
            <a:off x="6922008" y="226771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Principios de diseño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49440" y="26974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7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antes que implementaciones</a:t>
            </a:r>
            <a:endParaRPr lang="en-US" sz="1200" dirty="0"/>
          </a:p>
          <a:p>
            <a:pPr algn="l" marL="228600" indent="-228600">
              <a:lnSpc>
                <a:spcPct val="17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Anclaje: nunca inventar datos del campus</a:t>
            </a:r>
            <a:endParaRPr lang="en-US" sz="1200" dirty="0"/>
          </a:p>
          <a:p>
            <a:pPr algn="l" marL="228600" indent="-228600">
              <a:lnSpc>
                <a:spcPct val="17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Degradación elegante (503, no 500)</a:t>
            </a:r>
            <a:endParaRPr lang="en-US" sz="1200" dirty="0"/>
          </a:p>
          <a:p>
            <a:pPr algn="l" marL="228600" indent="-228600">
              <a:lnSpc>
                <a:spcPct val="17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herméticos (mock, sin red)</a:t>
            </a:r>
            <a:endParaRPr lang="en-US" sz="1200" dirty="0"/>
          </a:p>
          <a:p>
            <a:pPr algn="l" marL="228600" indent="-228600">
              <a:lnSpc>
                <a:spcPct val="170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Reproducible: fuente única de la verdad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petición HTTP al motor RAG y sus proveedores, cada capa con una única responsabilidad.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286000"/>
            <a:ext cx="54864" cy="47548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1945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2194560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main.py · api/chat.py — enrutado FastAPI, CORS, manejo de errores 503.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035808"/>
            <a:ext cx="54864" cy="47548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9443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944368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schemas/chat.py — contrato Pydantic: ChatRequest / ChatResponse.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85616"/>
            <a:ext cx="54864" cy="475488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69417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RAG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83280" y="3694176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rag/engine.py — orquesta guardrails → retrieve → places → LLM → compose.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443984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54864" cy="475488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44398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B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83280" y="4443984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rag/providers.py — elige mock vs real (Gemini, PgVectorRetriever).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193792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16171C"/>
          </a:solidFill>
          <a:ln w="12700">
            <a:solidFill>
              <a:srgbClr val="2A2C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285232"/>
            <a:ext cx="54864" cy="47548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19379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383280" y="519379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knowledge/ — corpus.py, places.py y fuentes (unmsm_info.md).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clases · motor RAG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depende de interfaces (Protocol), no de implementaciones concretas.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17720" y="2103120"/>
            <a:ext cx="2971800" cy="1819656"/>
          </a:xfrm>
          <a:prstGeom prst="roundRect">
            <a:avLst>
              <a:gd name="adj" fmla="val 2513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103120"/>
            <a:ext cx="297180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RAGEngine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480818"/>
            <a:ext cx="2971800" cy="12700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4" name="Text 12"/>
          <p:cNvSpPr/>
          <p:nvPr/>
        </p:nvSpPr>
        <p:spPr>
          <a:xfrm>
            <a:off x="4727448" y="2523744"/>
            <a:ext cx="278892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retriever: SupportsRetrieve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llm: LLMProvider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top_k, score_threshold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3198622"/>
            <a:ext cx="2971800" cy="12700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6" name="Text 14"/>
          <p:cNvSpPr/>
          <p:nvPr/>
        </p:nvSpPr>
        <p:spPr>
          <a:xfrm>
            <a:off x="4727448" y="3241548"/>
            <a:ext cx="278892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answer(query): ChatResponse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_detect_places()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_compose()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4572000"/>
            <a:ext cx="2743200" cy="653796"/>
          </a:xfrm>
          <a:prstGeom prst="roundRect">
            <a:avLst>
              <a:gd name="adj" fmla="val 6993"/>
            </a:avLst>
          </a:prstGeom>
          <a:solidFill>
            <a:srgbClr val="16171C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572000"/>
            <a:ext cx="274320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5994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«Protocol»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40080" y="47183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SupportsRetrieve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949698"/>
            <a:ext cx="2743200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992624"/>
            <a:ext cx="256032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retrieve(q, top_k)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549640" y="4572000"/>
            <a:ext cx="2743200" cy="653796"/>
          </a:xfrm>
          <a:prstGeom prst="roundRect">
            <a:avLst>
              <a:gd name="adj" fmla="val 6993"/>
            </a:avLst>
          </a:prstGeom>
          <a:solidFill>
            <a:srgbClr val="16171C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9640" y="4572000"/>
            <a:ext cx="274320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25" name="Text 23"/>
          <p:cNvSpPr/>
          <p:nvPr/>
        </p:nvSpPr>
        <p:spPr>
          <a:xfrm>
            <a:off x="8549640" y="45994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«Protocol»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549640" y="47183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LLMProvider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49640" y="4949698"/>
            <a:ext cx="2743200" cy="127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8" name="Text 26"/>
          <p:cNvSpPr/>
          <p:nvPr/>
        </p:nvSpPr>
        <p:spPr>
          <a:xfrm>
            <a:off x="8659368" y="4992624"/>
            <a:ext cx="256032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generate(q, ctx)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" y="58064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806440"/>
            <a:ext cx="274320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806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PgVectorRetriever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063240" y="5806440"/>
            <a:ext cx="2194560" cy="384048"/>
          </a:xfrm>
          <a:prstGeom prst="roundRect">
            <a:avLst>
              <a:gd name="adj" fmla="val 11905"/>
            </a:avLst>
          </a:prstGeom>
          <a:solidFill>
            <a:srgbClr val="16171C"/>
          </a:solidFill>
          <a:ln w="15875">
            <a:solidFill>
              <a:srgbClr val="9AA0A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63240" y="5806440"/>
            <a:ext cx="219456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34" name="Text 32"/>
          <p:cNvSpPr/>
          <p:nvPr/>
        </p:nvSpPr>
        <p:spPr>
          <a:xfrm>
            <a:off x="3063240" y="5806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Retriever (mock)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549640" y="5806440"/>
            <a:ext cx="1828800" cy="384048"/>
          </a:xfrm>
          <a:prstGeom prst="roundRect">
            <a:avLst>
              <a:gd name="adj" fmla="val 11905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5806440"/>
            <a:ext cx="182880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37" name="Text 35"/>
          <p:cNvSpPr/>
          <p:nvPr/>
        </p:nvSpPr>
        <p:spPr>
          <a:xfrm>
            <a:off x="8549640" y="5806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GeminiLLM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10469880" y="5806440"/>
            <a:ext cx="1691640" cy="384048"/>
          </a:xfrm>
          <a:prstGeom prst="roundRect">
            <a:avLst>
              <a:gd name="adj" fmla="val 11905"/>
            </a:avLst>
          </a:prstGeom>
          <a:solidFill>
            <a:srgbClr val="16171C"/>
          </a:solidFill>
          <a:ln w="15875">
            <a:solidFill>
              <a:srgbClr val="9AA0A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469880" y="5806440"/>
            <a:ext cx="1691640" cy="384048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58064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TemplateLLM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 rot="-8918575">
            <a:off x="2020606" y="3693935"/>
            <a:ext cx="3344265" cy="15875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42" name="Shape 40"/>
          <p:cNvSpPr/>
          <p:nvPr/>
        </p:nvSpPr>
        <p:spPr>
          <a:xfrm rot="-3518575">
            <a:off x="2194830" y="2756027"/>
            <a:ext cx="116586" cy="137160"/>
          </a:xfrm>
          <a:prstGeom prst="triangle">
            <a:avLst/>
          </a:prstGeom>
          <a:solidFill>
            <a:srgbClr val="2DD4A7"/>
          </a:solidFill>
          <a:ln/>
        </p:spPr>
      </p:sp>
      <p:sp>
        <p:nvSpPr>
          <p:cNvPr id="43" name="Shape 41"/>
          <p:cNvSpPr/>
          <p:nvPr/>
        </p:nvSpPr>
        <p:spPr>
          <a:xfrm rot="-2150259">
            <a:off x="6760387" y="3696614"/>
            <a:ext cx="2963150" cy="15875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44" name="Shape 42"/>
          <p:cNvSpPr/>
          <p:nvPr/>
        </p:nvSpPr>
        <p:spPr>
          <a:xfrm rot="3249741">
            <a:off x="9395871" y="2760493"/>
            <a:ext cx="116586" cy="137160"/>
          </a:xfrm>
          <a:prstGeom prst="triangle">
            <a:avLst/>
          </a:prstGeom>
          <a:solidFill>
            <a:srgbClr val="2DD4A7"/>
          </a:solidFill>
          <a:ln/>
        </p:spPr>
      </p:sp>
      <p:sp>
        <p:nvSpPr>
          <p:cNvPr id="45" name="Shape 43"/>
          <p:cNvSpPr/>
          <p:nvPr/>
        </p:nvSpPr>
        <p:spPr>
          <a:xfrm rot="-5400000">
            <a:off x="1389888" y="5633911"/>
            <a:ext cx="329184" cy="15875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6" name="Shape 44"/>
          <p:cNvSpPr/>
          <p:nvPr/>
        </p:nvSpPr>
        <p:spPr>
          <a:xfrm>
            <a:off x="1496187" y="5394960"/>
            <a:ext cx="116586" cy="137160"/>
          </a:xfrm>
          <a:prstGeom prst="triangle">
            <a:avLst/>
          </a:prstGeom>
          <a:solidFill>
            <a:srgbClr val="A78BFA"/>
          </a:solidFill>
          <a:ln/>
        </p:spPr>
      </p:sp>
      <p:sp>
        <p:nvSpPr>
          <p:cNvPr id="47" name="Shape 45"/>
          <p:cNvSpPr/>
          <p:nvPr/>
        </p:nvSpPr>
        <p:spPr>
          <a:xfrm rot="-10106392">
            <a:off x="2163755" y="5602596"/>
            <a:ext cx="1971036" cy="1270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48" name="Shape 46"/>
          <p:cNvSpPr/>
          <p:nvPr/>
        </p:nvSpPr>
        <p:spPr>
          <a:xfrm rot="-4706392">
            <a:off x="2112016" y="5340123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49" name="Shape 47"/>
          <p:cNvSpPr/>
          <p:nvPr/>
        </p:nvSpPr>
        <p:spPr>
          <a:xfrm rot="-2901988">
            <a:off x="9248300" y="5623517"/>
            <a:ext cx="468246" cy="15875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0" name="Shape 48"/>
          <p:cNvSpPr/>
          <p:nvPr/>
        </p:nvSpPr>
        <p:spPr>
          <a:xfrm rot="2498012">
            <a:off x="9588785" y="5377637"/>
            <a:ext cx="116586" cy="137160"/>
          </a:xfrm>
          <a:prstGeom prst="triangle">
            <a:avLst/>
          </a:prstGeom>
          <a:solidFill>
            <a:srgbClr val="A78BFA"/>
          </a:solidFill>
          <a:ln/>
        </p:spPr>
      </p:sp>
      <p:sp>
        <p:nvSpPr>
          <p:cNvPr id="51" name="Shape 49"/>
          <p:cNvSpPr/>
          <p:nvPr/>
        </p:nvSpPr>
        <p:spPr>
          <a:xfrm rot="-9346335">
            <a:off x="10275793" y="5611236"/>
            <a:ext cx="920422" cy="1270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52" name="Shape 50"/>
          <p:cNvSpPr/>
          <p:nvPr/>
        </p:nvSpPr>
        <p:spPr>
          <a:xfrm rot="-3946335">
            <a:off x="10245527" y="5354523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53" name="Text 51"/>
          <p:cNvSpPr/>
          <p:nvPr/>
        </p:nvSpPr>
        <p:spPr>
          <a:xfrm>
            <a:off x="2468880" y="3566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(top-k coseno)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7132320" y="3566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(generación)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RAG de una consulta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engine.answer(query) recorre cinco etapas antes de componer la respuesta.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35935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¿dominio UNMSM?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06040" y="337375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2749601" y="331470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6474" y="26974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3634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13634" y="3200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13634" y="35935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por coseno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42434" y="337375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4985995" y="331470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12868" y="26974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0028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50028" y="3200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lugares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250028" y="35935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+ top doc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078828" y="337375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7222388" y="331470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8" name="Shape 26"/>
          <p:cNvSpPr/>
          <p:nvPr/>
        </p:nvSpPr>
        <p:spPr>
          <a:xfrm>
            <a:off x="7349261" y="26974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5875">
            <a:solidFill>
              <a:srgbClr val="F5B9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6421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B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86421" y="3200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486421" y="35935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genera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315221" y="337375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9458782" y="331470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34" name="Shape 32"/>
          <p:cNvSpPr/>
          <p:nvPr/>
        </p:nvSpPr>
        <p:spPr>
          <a:xfrm>
            <a:off x="9585655" y="26974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6171C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22815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722815" y="3200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722815" y="35935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+ locations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4480560"/>
            <a:ext cx="10911535" cy="1188720"/>
          </a:xfrm>
          <a:prstGeom prst="roundRect">
            <a:avLst>
              <a:gd name="adj" fmla="val 6154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590288"/>
            <a:ext cx="54864" cy="96926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40" name="Text 38"/>
          <p:cNvSpPr/>
          <p:nvPr/>
        </p:nvSpPr>
        <p:spPr>
          <a:xfrm>
            <a:off x="841248" y="4599432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Salvaguardas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4400" y="49834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guardrails rechaza → mensaje fuera de alcance.   Si no hay contexto ni lugares → "no tengo esa información oficial".   El LLM solo ve el contexto recuperado (no responde de memoria).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Ingesta y embeddings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offline que convierte el documento oficial en vectores consultables.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807208"/>
            <a:ext cx="54864" cy="133502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163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unmsm_info.md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227832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oficial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verificado del campus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54680" y="3465195"/>
            <a:ext cx="202082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3312185" y="340614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16" name="Shape 14"/>
          <p:cNvSpPr/>
          <p:nvPr/>
        </p:nvSpPr>
        <p:spPr>
          <a:xfrm>
            <a:off x="3439058" y="269748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39058" y="2807208"/>
            <a:ext cx="54864" cy="133502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3640226" y="28163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+ split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40226" y="3227832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Troceado con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solapamiento (chunks)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53658" y="3465195"/>
            <a:ext cx="202082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6111164" y="340614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22" name="Shape 20"/>
          <p:cNvSpPr/>
          <p:nvPr/>
        </p:nvSpPr>
        <p:spPr>
          <a:xfrm>
            <a:off x="6238037" y="269748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38037" y="2807208"/>
            <a:ext cx="54864" cy="133502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24" name="Text 22"/>
          <p:cNvSpPr/>
          <p:nvPr/>
        </p:nvSpPr>
        <p:spPr>
          <a:xfrm>
            <a:off x="6439205" y="28163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embed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39205" y="3227832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gemini-embedding-001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 dims · normalizado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752637" y="3465195"/>
            <a:ext cx="202082" cy="19050"/>
          </a:xfrm>
          <a:prstGeom prst="rect">
            <a:avLst/>
          </a:prstGeom>
          <a:solidFill>
            <a:srgbClr val="9AA0AC"/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8910142" y="3406140"/>
            <a:ext cx="116586" cy="137160"/>
          </a:xfrm>
          <a:prstGeom prst="triangle">
            <a:avLst/>
          </a:prstGeom>
          <a:solidFill>
            <a:srgbClr val="9AA0AC"/>
          </a:solidFill>
          <a:ln/>
        </p:spPr>
      </p:sp>
      <p:sp>
        <p:nvSpPr>
          <p:cNvPr id="28" name="Shape 26"/>
          <p:cNvSpPr/>
          <p:nvPr/>
        </p:nvSpPr>
        <p:spPr>
          <a:xfrm>
            <a:off x="9037015" y="269748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37015" y="2807208"/>
            <a:ext cx="54864" cy="133502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30" name="Text 28"/>
          <p:cNvSpPr/>
          <p:nvPr/>
        </p:nvSpPr>
        <p:spPr>
          <a:xfrm>
            <a:off x="9238183" y="28163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pgvector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238183" y="3227832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documents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índice HNSW coseno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app.rag.ingest_pgvector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0749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Asimetría de tareas: los documentos se embeben como RETRIEVAL_DOCUMENT y la consulta como RETRIEVAL_QUERY para mejor recuperación.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 · Supabase pgvector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con la extensión vector: búsqueda por similitud coseno vía función RPC.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25526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 (db/schema.sql)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96112" y="2697480"/>
            <a:ext cx="5029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vector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documents (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id bigint,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content text,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metadata jsonb  → { place_id, … },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embedding vector(768) 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HNSW · vector_cosine_ops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match_documents(query, k)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similarity = 1 − distancia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2194560"/>
            <a:ext cx="5242255" cy="3474720"/>
          </a:xfrm>
          <a:prstGeom prst="roundRect">
            <a:avLst>
              <a:gd name="adj" fmla="val 1579"/>
            </a:avLst>
          </a:prstGeom>
          <a:solidFill>
            <a:srgbClr val="0E0E12"/>
          </a:solidFill>
          <a:ln w="12700">
            <a:solidFill>
              <a:srgbClr val="2DD4A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09360" y="2194560"/>
            <a:ext cx="5242255" cy="310896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16" name="Shape 14"/>
          <p:cNvSpPr/>
          <p:nvPr/>
        </p:nvSpPr>
        <p:spPr>
          <a:xfrm>
            <a:off x="6455664" y="2304288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7" name="Shape 15"/>
          <p:cNvSpPr/>
          <p:nvPr/>
        </p:nvSpPr>
        <p:spPr>
          <a:xfrm>
            <a:off x="6638544" y="2304288"/>
            <a:ext cx="91440" cy="91440"/>
          </a:xfrm>
          <a:prstGeom prst="ellipse">
            <a:avLst/>
          </a:prstGeom>
          <a:solidFill>
            <a:srgbClr val="F5B94D"/>
          </a:solidFill>
          <a:ln/>
        </p:spPr>
      </p:sp>
      <p:sp>
        <p:nvSpPr>
          <p:cNvPr id="18" name="Shape 16"/>
          <p:cNvSpPr/>
          <p:nvPr/>
        </p:nvSpPr>
        <p:spPr>
          <a:xfrm>
            <a:off x="6821424" y="2304288"/>
            <a:ext cx="91440" cy="9144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9" name="Shape 17"/>
          <p:cNvSpPr/>
          <p:nvPr/>
        </p:nvSpPr>
        <p:spPr>
          <a:xfrm>
            <a:off x="7086600" y="2258568"/>
            <a:ext cx="4236415" cy="182880"/>
          </a:xfrm>
          <a:prstGeom prst="roundRect">
            <a:avLst>
              <a:gd name="adj" fmla="val 50000"/>
            </a:avLst>
          </a:prstGeom>
          <a:solidFill>
            <a:srgbClr val="0A0A0C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2258568"/>
            <a:ext cx="41449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supabase.com/dashboard · Table editor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09360" y="2505456"/>
            <a:ext cx="5242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◱  CAPTURA · SUPABASE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3840480"/>
            <a:ext cx="45107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documents poblada (48 fragmentos)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la función match_documents en el editor SQL.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LLM, guardrails e intención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genera; las reglas acotan el alcance y detectan la intención de navegar.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3332378" cy="342900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20954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· Gemini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29208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gemini-2.5-flash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anclado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0.2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usa el contexto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600 tokens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29658" y="2194560"/>
            <a:ext cx="3332378" cy="342900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9658" y="2304288"/>
            <a:ext cx="54864" cy="320954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6" name="Text 14"/>
          <p:cNvSpPr/>
          <p:nvPr/>
        </p:nvSpPr>
        <p:spPr>
          <a:xfrm>
            <a:off x="4630826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58258" y="2743200"/>
            <a:ext cx="29208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dominio UNMSM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coincidencia por palabra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declina fuera de alcance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claro al usuario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19237" y="2194560"/>
            <a:ext cx="3332378" cy="342900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9237" y="2304288"/>
            <a:ext cx="54864" cy="320954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0" name="Text 18"/>
          <p:cNvSpPr/>
          <p:nvPr/>
        </p:nvSpPr>
        <p:spPr>
          <a:xfrm>
            <a:off x="8420405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Intención de ruta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47837" y="2743200"/>
            <a:ext cx="29208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wants_route(query)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"cómo llego", "llévame"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 draw_route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devuelve destination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conocimiento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para mantener el corpus al día con el mapa — con revisión humana antes de subir.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1965960" cy="1463040"/>
          </a:xfrm>
          <a:prstGeom prst="roundRect">
            <a:avLst>
              <a:gd name="adj" fmla="val 5000"/>
            </a:avLst>
          </a:prstGeom>
          <a:solidFill>
            <a:srgbClr val="16171C"/>
          </a:solidFill>
          <a:ln w="15875">
            <a:solidFill>
              <a:srgbClr val="F5B9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6207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Places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3447288"/>
            <a:ext cx="1746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fetch_places · datos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reales (grounding)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06040" y="341947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14" name="Shape 12"/>
          <p:cNvSpPr/>
          <p:nvPr/>
        </p:nvSpPr>
        <p:spPr>
          <a:xfrm rot="5400000">
            <a:off x="2749601" y="336042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876474" y="2697480"/>
            <a:ext cx="1965960" cy="1463040"/>
          </a:xfrm>
          <a:prstGeom prst="roundRect">
            <a:avLst>
              <a:gd name="adj" fmla="val 5000"/>
            </a:avLst>
          </a:prstGeom>
          <a:solidFill>
            <a:srgbClr val="16171C"/>
          </a:solidFill>
          <a:ln w="15875">
            <a:solidFill>
              <a:srgbClr val="5B8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3634" y="286207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build_unmsm_ts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86202" y="3447288"/>
            <a:ext cx="1746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 lugares a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42434" y="341947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19" name="Shape 17"/>
          <p:cNvSpPr/>
          <p:nvPr/>
        </p:nvSpPr>
        <p:spPr>
          <a:xfrm rot="5400000">
            <a:off x="4985995" y="336042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0" name="Shape 18"/>
          <p:cNvSpPr/>
          <p:nvPr/>
        </p:nvSpPr>
        <p:spPr>
          <a:xfrm>
            <a:off x="5112868" y="2697480"/>
            <a:ext cx="1965960" cy="1463040"/>
          </a:xfrm>
          <a:prstGeom prst="roundRect">
            <a:avLst>
              <a:gd name="adj" fmla="val 5000"/>
            </a:avLst>
          </a:prstGeom>
          <a:solidFill>
            <a:srgbClr val="16171C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0028" y="286207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find_gaps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22596" y="3447288"/>
            <a:ext cx="1746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lugares en el mapa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ausentes del corpus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78828" y="341947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4" name="Shape 22"/>
          <p:cNvSpPr/>
          <p:nvPr/>
        </p:nvSpPr>
        <p:spPr>
          <a:xfrm rot="5400000">
            <a:off x="7222388" y="336042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25" name="Shape 23"/>
          <p:cNvSpPr/>
          <p:nvPr/>
        </p:nvSpPr>
        <p:spPr>
          <a:xfrm>
            <a:off x="7349261" y="2697480"/>
            <a:ext cx="1965960" cy="1463040"/>
          </a:xfrm>
          <a:prstGeom prst="roundRect">
            <a:avLst>
              <a:gd name="adj" fmla="val 5000"/>
            </a:avLst>
          </a:prstGeom>
          <a:solidFill>
            <a:srgbClr val="16171C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86421" y="286207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humana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458989" y="3447288"/>
            <a:ext cx="1746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verifica la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veracidad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315221" y="3419475"/>
            <a:ext cx="188138" cy="19050"/>
          </a:xfrm>
          <a:prstGeom prst="rect">
            <a:avLst/>
          </a:prstGeom>
          <a:solidFill>
            <a:srgbClr val="3B3E4A"/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9458782" y="3360420"/>
            <a:ext cx="116586" cy="137160"/>
          </a:xfrm>
          <a:prstGeom prst="triangle">
            <a:avLst/>
          </a:prstGeom>
          <a:solidFill>
            <a:srgbClr val="3B3E4A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5655" y="2697480"/>
            <a:ext cx="1965960" cy="1463040"/>
          </a:xfrm>
          <a:prstGeom prst="roundRect">
            <a:avLst>
              <a:gd name="adj" fmla="val 5000"/>
            </a:avLst>
          </a:prstGeom>
          <a:solidFill>
            <a:srgbClr val="16171C"/>
          </a:solidFill>
          <a:ln w="15875">
            <a:solidFill>
              <a:srgbClr val="2DD4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22815" y="286207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upload_entries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695383" y="3447288"/>
            <a:ext cx="1746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inserta / actualiza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pgvector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" y="46177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Principio: el LLM redacta borradores, pero un humano verifica antes de que entren al corpus. Nada de datos inventados en producción.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la API · /api/chat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endpoint simple y estable; el frontend solo necesita enviar la consulta.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25526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96112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/api/chat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96112" y="30632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"query": "¿cómo llego al rectorado?"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4154170"/>
            <a:ext cx="4864608" cy="12700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297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/health → { status, service, version 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96112" y="4800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de proveedor → HTTP 503 (Reintentar)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2194560"/>
            <a:ext cx="5242255" cy="3474720"/>
          </a:xfrm>
          <a:prstGeom prst="roundRect">
            <a:avLst>
              <a:gd name="adj" fmla="val 2105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2304288"/>
            <a:ext cx="54864" cy="325526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10528" y="2313432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37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"answer": "El Rectorado… trazo la ruta.",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"locations": [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{ "id": "rectorado",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"name": "Rectorado",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"schedule": "Lun–Vie 8:00–16:00" } ],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"draw_route": true,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"destination": { "latitude": -12.0566,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"longitude": -77.0862 }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en Render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como código: render.yaml describe el servicio y se despliega solo.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25526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render.yaml (blueprint)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rootDir:  </a:t>
            </a:r>
            <a:pPr algn="l" marL="228600" indent="-228600">
              <a:lnSpc>
                <a:spcPct val="14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 (monorepo).</a:t>
            </a:r>
            <a:endParaRPr lang="en-US" sz="1150" dirty="0"/>
          </a:p>
          <a:p>
            <a:pPr algn="l" indent="0" marL="0">
              <a:lnSpc>
                <a:spcPct val="145000"/>
              </a:lnSpc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 </a:t>
            </a:r>
            <a:pPr algn="l" marL="228600" indent="-228600">
              <a:lnSpc>
                <a:spcPct val="14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 core + LLM + pgvector.</a:t>
            </a:r>
            <a:endParaRPr lang="en-US" sz="1150" dirty="0"/>
          </a:p>
          <a:p>
            <a:pPr algn="l" indent="0" marL="0">
              <a:lnSpc>
                <a:spcPct val="145000"/>
              </a:lnSpc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start:  </a:t>
            </a:r>
            <a:pPr algn="l" marL="228600" indent="-228600">
              <a:lnSpc>
                <a:spcPct val="14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uvicorn app.main:app.</a:t>
            </a:r>
            <a:endParaRPr lang="en-US" sz="1150" dirty="0"/>
          </a:p>
          <a:p>
            <a:pPr algn="l" indent="0" marL="0">
              <a:lnSpc>
                <a:spcPct val="145000"/>
              </a:lnSpc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healthCheck:  </a:t>
            </a:r>
            <a:pPr algn="l" marL="228600" indent="-228600">
              <a:lnSpc>
                <a:spcPct val="14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/health.</a:t>
            </a:r>
            <a:endParaRPr lang="en-US" sz="1150" dirty="0"/>
          </a:p>
          <a:p>
            <a:pPr algn="l" indent="0" marL="0">
              <a:lnSpc>
                <a:spcPct val="145000"/>
              </a:lnSpc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autoDeploy:  </a:t>
            </a:r>
            <a:pPr algn="l" marL="228600" indent="-228600">
              <a:lnSpc>
                <a:spcPct val="14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push a main redepliega.</a:t>
            </a:r>
            <a:endParaRPr lang="en-US" sz="1150" dirty="0"/>
          </a:p>
          <a:p>
            <a:pPr algn="l" indent="0" marL="0">
              <a:lnSpc>
                <a:spcPct val="145000"/>
              </a:lnSpc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secretos:  </a:t>
            </a:r>
            <a:pPr algn="l" marL="228600" indent="-228600">
              <a:lnSpc>
                <a:spcPct val="14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LLM_API_KEY, SUPABASE_SERVICE_KEY (sync:false).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2194560"/>
            <a:ext cx="5242255" cy="3474720"/>
          </a:xfrm>
          <a:prstGeom prst="roundRect">
            <a:avLst>
              <a:gd name="adj" fmla="val 1579"/>
            </a:avLst>
          </a:prstGeom>
          <a:solidFill>
            <a:srgbClr val="0E0E12"/>
          </a:solidFill>
          <a:ln w="12700">
            <a:solidFill>
              <a:srgbClr val="2DD4A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09360" y="2194560"/>
            <a:ext cx="5242255" cy="310896"/>
          </a:xfrm>
          <a:prstGeom prst="rect">
            <a:avLst/>
          </a:prstGeom>
          <a:solidFill>
            <a:srgbClr val="1D1F26"/>
          </a:solidFill>
          <a:ln/>
        </p:spPr>
      </p:sp>
      <p:sp>
        <p:nvSpPr>
          <p:cNvPr id="16" name="Shape 14"/>
          <p:cNvSpPr/>
          <p:nvPr/>
        </p:nvSpPr>
        <p:spPr>
          <a:xfrm>
            <a:off x="6455664" y="2304288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7" name="Shape 15"/>
          <p:cNvSpPr/>
          <p:nvPr/>
        </p:nvSpPr>
        <p:spPr>
          <a:xfrm>
            <a:off x="6638544" y="2304288"/>
            <a:ext cx="91440" cy="91440"/>
          </a:xfrm>
          <a:prstGeom prst="ellipse">
            <a:avLst/>
          </a:prstGeom>
          <a:solidFill>
            <a:srgbClr val="F5B94D"/>
          </a:solidFill>
          <a:ln/>
        </p:spPr>
      </p:sp>
      <p:sp>
        <p:nvSpPr>
          <p:cNvPr id="18" name="Shape 16"/>
          <p:cNvSpPr/>
          <p:nvPr/>
        </p:nvSpPr>
        <p:spPr>
          <a:xfrm>
            <a:off x="6821424" y="2304288"/>
            <a:ext cx="91440" cy="9144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9" name="Shape 17"/>
          <p:cNvSpPr/>
          <p:nvPr/>
        </p:nvSpPr>
        <p:spPr>
          <a:xfrm>
            <a:off x="7086600" y="2258568"/>
            <a:ext cx="4236415" cy="182880"/>
          </a:xfrm>
          <a:prstGeom prst="roundRect">
            <a:avLst>
              <a:gd name="adj" fmla="val 50000"/>
            </a:avLst>
          </a:prstGeom>
          <a:solidFill>
            <a:srgbClr val="0A0A0C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2258568"/>
            <a:ext cx="41449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dashboard.render.com · ondesanmarcos-backend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09360" y="2505456"/>
            <a:ext cx="5242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◱  CAPTURA · RENDER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3840480"/>
            <a:ext cx="45107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del servicio: estado "Live", logs del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y variables de entorno configuradas.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configuración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7276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por variables de entorno; los secretos nunca viven en el repositorio.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2DD4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3332378" cy="342900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04288"/>
            <a:ext cx="54864" cy="320954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29208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pydantic-settings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RAG_USE_MOCK (real/mock)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LLM_PROVIDER / LLM_MODEL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RAG_TOP_K, score_threshold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CORS_ORIGINS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29658" y="2194560"/>
            <a:ext cx="3332378" cy="342900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9658" y="2304288"/>
            <a:ext cx="54864" cy="320954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6" name="Text 14"/>
          <p:cNvSpPr/>
          <p:nvPr/>
        </p:nvSpPr>
        <p:spPr>
          <a:xfrm>
            <a:off x="4630826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58258" y="2743200"/>
            <a:ext cx="29208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en .gitignore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LLM_API_KEY (Gemini)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SUPABASE_SERVICE_KEY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en dashboard de Render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ante exposición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19237" y="2194560"/>
            <a:ext cx="3332378" cy="3429000"/>
          </a:xfrm>
          <a:prstGeom prst="roundRect">
            <a:avLst>
              <a:gd name="adj" fmla="val 2195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9237" y="2304288"/>
            <a:ext cx="54864" cy="320954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0" name="Text 18"/>
          <p:cNvSpPr/>
          <p:nvPr/>
        </p:nvSpPr>
        <p:spPr>
          <a:xfrm>
            <a:off x="8420405" y="2313432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47837" y="2743200"/>
            <a:ext cx="29208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herméticos (mock)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red en CI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503 en vez de 500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 reproducible</a:t>
            </a:r>
            <a:endParaRPr lang="en-US" sz="1150" dirty="0"/>
          </a:p>
          <a:p>
            <a:pPr marL="152400" indent="-152400">
              <a:lnSpc>
                <a:spcPct val="14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única de verdad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 w="25400">
            <a:solidFill>
              <a:srgbClr val="F5B9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11734495" cy="6400800"/>
          </a:xfrm>
          <a:prstGeom prst="rect">
            <a:avLst/>
          </a:prstGeom>
          <a:ln w="12700">
            <a:solidFill>
              <a:srgbClr val="1D1F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1488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5B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0" y="320040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en funcionamiento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75408" y="5120640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66848" y="51206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en vivo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44288" y="5120640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35728" y="51206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+ ruta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13168" y="5120640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1D1F26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04608" y="51206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real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F5B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65836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funcional: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móvil + backend RAG desplegado y consumido de extremo a extremo.</a:t>
            </a:r>
            <a:endParaRPr lang="en-US" sz="130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confiables: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anclado al corpus oficial evita que el asistente invente datos.</a:t>
            </a:r>
            <a:endParaRPr lang="en-US" sz="130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Recuperación semántica: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pgvector encuentra por significado, no solo por palabras exactas.</a:t>
            </a:r>
            <a:endParaRPr lang="en-US" sz="130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limpia: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y proveedores permiten crecer sin reescribir el motor.</a:t>
            </a:r>
            <a:endParaRPr lang="en-US" sz="1300" dirty="0"/>
          </a:p>
          <a:p>
            <a:pPr algn="l" indent="0" marL="0">
              <a:lnSpc>
                <a:spcPct val="160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Reproducible:  </a:t>
            </a:r>
            <a:pPr algn="l" marL="228600" indent="-228600">
              <a:lnSpc>
                <a:spcPct val="160000"/>
              </a:lnSpc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EA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como código y una única fuente de verdad del conocimiento.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635240" y="2148840"/>
            <a:ext cx="3916375" cy="3566160"/>
          </a:xfrm>
          <a:prstGeom prst="roundRect">
            <a:avLst>
              <a:gd name="adj" fmla="val 2051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35240" y="2258568"/>
            <a:ext cx="54864" cy="334670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2" name="Text 10"/>
          <p:cNvSpPr/>
          <p:nvPr/>
        </p:nvSpPr>
        <p:spPr>
          <a:xfrm>
            <a:off x="7836408" y="226771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clave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63840" y="2697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37+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0" y="2697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lugares del campus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6384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0" y="3429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dims por embedding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0" y="4160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proveedores (mock/real)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863840" y="4892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que lo une todo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224" y="1417320"/>
            <a:ext cx="502920" cy="5029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35264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5227168" cy="1005840"/>
          </a:xfrm>
          <a:prstGeom prst="roundRect">
            <a:avLst>
              <a:gd name="adj" fmla="val 7273"/>
            </a:avLst>
          </a:prstGeom>
          <a:solidFill>
            <a:srgbClr val="16171C"/>
          </a:solidFill>
          <a:ln w="12700">
            <a:solidFill>
              <a:srgbClr val="5B8C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258568"/>
            <a:ext cx="54864" cy="786384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26771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de rutas del chat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262432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la entrada peatonal real que ya conoce el frontend.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24448" y="2148840"/>
            <a:ext cx="5227168" cy="1005840"/>
          </a:xfrm>
          <a:prstGeom prst="roundRect">
            <a:avLst>
              <a:gd name="adj" fmla="val 7273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4448" y="2258568"/>
            <a:ext cx="54864" cy="78638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5" name="Text 13"/>
          <p:cNvSpPr/>
          <p:nvPr/>
        </p:nvSpPr>
        <p:spPr>
          <a:xfrm>
            <a:off x="6525616" y="226771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Afinar umbral de recuperación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43904" y="262432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Calibrar score_threshold para embeddings densos.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383280"/>
            <a:ext cx="5227168" cy="1005840"/>
          </a:xfrm>
          <a:prstGeom prst="roundRect">
            <a:avLst>
              <a:gd name="adj" fmla="val 7273"/>
            </a:avLst>
          </a:prstGeom>
          <a:solidFill>
            <a:srgbClr val="16171C"/>
          </a:solidFill>
          <a:ln w="12700">
            <a:solidFill>
              <a:srgbClr val="2DD4A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493008"/>
            <a:ext cx="54864" cy="786384"/>
          </a:xfrm>
          <a:prstGeom prst="rect">
            <a:avLst/>
          </a:prstGeom>
          <a:solidFill>
            <a:srgbClr val="2DD4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35021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semántico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9536" y="38587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bloquear consultas válidas antes de recuperar.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24448" y="3383280"/>
            <a:ext cx="5227168" cy="1005840"/>
          </a:xfrm>
          <a:prstGeom prst="roundRect">
            <a:avLst>
              <a:gd name="adj" fmla="val 7273"/>
            </a:avLst>
          </a:prstGeom>
          <a:solidFill>
            <a:srgbClr val="16171C"/>
          </a:solidFill>
          <a:ln w="12700">
            <a:solidFill>
              <a:srgbClr val="F5B9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24448" y="3493008"/>
            <a:ext cx="54864" cy="786384"/>
          </a:xfrm>
          <a:prstGeom prst="rect">
            <a:avLst/>
          </a:prstGeom>
          <a:solidFill>
            <a:srgbClr val="F5B94D"/>
          </a:solidFill>
          <a:ln/>
        </p:spPr>
      </p:sp>
      <p:sp>
        <p:nvSpPr>
          <p:cNvPr id="23" name="Text 21"/>
          <p:cNvSpPr/>
          <p:nvPr/>
        </p:nvSpPr>
        <p:spPr>
          <a:xfrm>
            <a:off x="6525616" y="35021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del LLM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43904" y="38587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Habilitar billing de Gemini para uso en producción.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617720"/>
            <a:ext cx="5227168" cy="1005840"/>
          </a:xfrm>
          <a:prstGeom prst="roundRect">
            <a:avLst>
              <a:gd name="adj" fmla="val 7273"/>
            </a:avLst>
          </a:prstGeom>
          <a:solidFill>
            <a:srgbClr val="16171C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727448"/>
            <a:ext cx="54864" cy="78638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" y="473659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del corpus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9536" y="509320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gaps mapa↔corpus con el pipeline de conocimiento.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24448" y="4617720"/>
            <a:ext cx="5227168" cy="1005840"/>
          </a:xfrm>
          <a:prstGeom prst="roundRect">
            <a:avLst>
              <a:gd name="adj" fmla="val 7273"/>
            </a:avLst>
          </a:prstGeom>
          <a:solidFill>
            <a:srgbClr val="16171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24448" y="4727448"/>
            <a:ext cx="54864" cy="7863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1" name="Text 29"/>
          <p:cNvSpPr/>
          <p:nvPr/>
        </p:nvSpPr>
        <p:spPr>
          <a:xfrm>
            <a:off x="6525616" y="473659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de frontend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43904" y="509320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cobertura de la app móvil.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931920"/>
            <a:ext cx="4206240" cy="4206240"/>
          </a:xfrm>
          <a:prstGeom prst="roundRect">
            <a:avLst>
              <a:gd name="adj" fmla="val 8696"/>
            </a:avLst>
          </a:prstGeom>
          <a:ln w="1905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914400"/>
            <a:ext cx="3108960" cy="3108960"/>
          </a:xfrm>
          <a:prstGeom prst="roundRect">
            <a:avLst>
              <a:gd name="adj" fmla="val 11765"/>
            </a:avLst>
          </a:prstGeom>
          <a:ln w="19050">
            <a:solidFill>
              <a:srgbClr val="123C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23774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5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519930"/>
            <a:ext cx="4206240" cy="12700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Equipo anycodef · UNMSM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 · monorepo (frontend + backend)   ·   backend en Render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6413602"/>
            <a:ext cx="10911535" cy="10973"/>
          </a:xfrm>
          <a:prstGeom prst="rect">
            <a:avLst/>
          </a:prstGeom>
          <a:solidFill>
            <a:srgbClr val="2A2C3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OndeSanMarcos · Asistente de campus UNMSM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454335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76D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UNMSM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OndeSanMarcos — Presentación final</dc:title>
  <dc:subject>PptxGenJS Presentation</dc:subject>
  <dc:creator>anycodef</dc:creator>
  <cp:lastModifiedBy>anycodef</cp:lastModifiedBy>
  <cp:revision>1</cp:revision>
  <dcterms:created xsi:type="dcterms:W3CDTF">2026-07-18T13:49:50Z</dcterms:created>
  <dcterms:modified xsi:type="dcterms:W3CDTF">2026-07-18T13:49:50Z</dcterms:modified>
</cp:coreProperties>
</file>