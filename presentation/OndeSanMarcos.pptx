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097280"/>
            <a:ext cx="4206240" cy="4206240"/>
          </a:xfrm>
          <a:prstGeom prst="roundRect">
            <a:avLst>
              <a:gd name="adj" fmla="val 8696"/>
            </a:avLst>
          </a:prstGeom>
          <a:ln w="19050">
            <a:solidFill>
              <a:srgbClr val="2430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023360"/>
            <a:ext cx="3474720" cy="3474720"/>
          </a:xfrm>
          <a:prstGeom prst="roundRect">
            <a:avLst>
              <a:gd name="adj" fmla="val 10526"/>
            </a:avLst>
          </a:prstGeom>
          <a:ln w="19050">
            <a:solidFill>
              <a:srgbClr val="123C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1737360"/>
            <a:ext cx="146304" cy="146304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3200400"/>
            <a:ext cx="109728" cy="109728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· UNMSM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19659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 inteligente de navegación y consultas del campus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móvil con mapa interactivo y un asistente conversacional (RAG) anclado al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conocimiento oficial de la Universidad Nacional Mayor de San Marcos.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5029200"/>
            <a:ext cx="4206240" cy="0"/>
          </a:xfrm>
          <a:prstGeom prst="line">
            <a:avLst/>
          </a:prstGeom>
          <a:noFill/>
          <a:ln w="12700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640080" y="5138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Exposición final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Software · Equipo anycodef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anycodef — desarrollo full-stack, RAG y experiencia móvil.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3393338" cy="1691640"/>
          </a:xfrm>
          <a:prstGeom prst="roundRect">
            <a:avLst>
              <a:gd name="adj" fmla="val 4324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58568"/>
            <a:ext cx="54864" cy="147218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2423160"/>
            <a:ext cx="566928" cy="566928"/>
          </a:xfrm>
          <a:prstGeom prst="ellipse">
            <a:avLst/>
          </a:prstGeom>
          <a:solidFill>
            <a:srgbClr val="1D1F26"/>
          </a:solidFill>
          <a:ln w="15875">
            <a:solidFill>
              <a:srgbClr val="5B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2478024"/>
            <a:ext cx="2296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Sota Rios, Pedro Josué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200400"/>
            <a:ext cx="2890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· Mapa &amp; Mapbox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99178" y="2148840"/>
            <a:ext cx="3393338" cy="1691640"/>
          </a:xfrm>
          <a:prstGeom prst="roundRect">
            <a:avLst>
              <a:gd name="adj" fmla="val 4324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99178" y="2258568"/>
            <a:ext cx="54864" cy="147218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655210" y="2423160"/>
            <a:ext cx="566928" cy="566928"/>
          </a:xfrm>
          <a:prstGeom prst="ellipse">
            <a:avLst/>
          </a:prstGeom>
          <a:solidFill>
            <a:srgbClr val="1D1F26"/>
          </a:solidFill>
          <a:ln w="15875">
            <a:solidFill>
              <a:srgbClr val="5B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521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59298" y="2478024"/>
            <a:ext cx="2296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Condor Huarhuachi, Frank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73498" y="3200400"/>
            <a:ext cx="2890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API &amp; despliegue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58277" y="2148840"/>
            <a:ext cx="3393338" cy="1691640"/>
          </a:xfrm>
          <a:prstGeom prst="roundRect">
            <a:avLst>
              <a:gd name="adj" fmla="val 4324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58277" y="2258568"/>
            <a:ext cx="54864" cy="147218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414309" y="2423160"/>
            <a:ext cx="566928" cy="566928"/>
          </a:xfrm>
          <a:prstGeom prst="ellipse">
            <a:avLst/>
          </a:prstGeom>
          <a:solidFill>
            <a:srgbClr val="1D1F26"/>
          </a:solidFill>
          <a:ln w="15875">
            <a:solidFill>
              <a:srgbClr val="5B8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4309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18397" y="2478024"/>
            <a:ext cx="2296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Patricio Julca, Vilberto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32597" y="3200400"/>
            <a:ext cx="2890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· Chat &amp; navegación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251960"/>
            <a:ext cx="3393338" cy="1691640"/>
          </a:xfrm>
          <a:prstGeom prst="roundRect">
            <a:avLst>
              <a:gd name="adj" fmla="val 4324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361688"/>
            <a:ext cx="54864" cy="147218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96112" y="4526280"/>
            <a:ext cx="566928" cy="566928"/>
          </a:xfrm>
          <a:prstGeom prst="ellipse">
            <a:avLst/>
          </a:prstGeom>
          <a:solidFill>
            <a:srgbClr val="1D1F26"/>
          </a:solidFill>
          <a:ln w="15875">
            <a:solidFill>
              <a:srgbClr val="5B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600200" y="4581144"/>
            <a:ext cx="2296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Macchiavello Perez, Oscar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5303520"/>
            <a:ext cx="2890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RAG &amp; datos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99178" y="4251960"/>
            <a:ext cx="3393338" cy="1691640"/>
          </a:xfrm>
          <a:prstGeom prst="roundRect">
            <a:avLst>
              <a:gd name="adj" fmla="val 4324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99178" y="4361688"/>
            <a:ext cx="54864" cy="147218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655210" y="4526280"/>
            <a:ext cx="566928" cy="566928"/>
          </a:xfrm>
          <a:prstGeom prst="ellipse">
            <a:avLst/>
          </a:prstGeom>
          <a:solidFill>
            <a:srgbClr val="1D1F26"/>
          </a:solidFill>
          <a:ln w="15875">
            <a:solidFill>
              <a:srgbClr val="5B8C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5521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359298" y="4581144"/>
            <a:ext cx="2296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Lozano Paredes, Renzo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73498" y="5303520"/>
            <a:ext cx="2890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· Rutas &amp; ubicaciones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58277" y="4251960"/>
            <a:ext cx="3393338" cy="1691640"/>
          </a:xfrm>
          <a:prstGeom prst="roundRect">
            <a:avLst>
              <a:gd name="adj" fmla="val 4324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58277" y="4361688"/>
            <a:ext cx="54864" cy="147218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42" name="Shape 40"/>
          <p:cNvSpPr/>
          <p:nvPr/>
        </p:nvSpPr>
        <p:spPr>
          <a:xfrm>
            <a:off x="8414309" y="4526280"/>
            <a:ext cx="566928" cy="566928"/>
          </a:xfrm>
          <a:prstGeom prst="ellipse">
            <a:avLst/>
          </a:prstGeom>
          <a:solidFill>
            <a:srgbClr val="1D1F26"/>
          </a:solidFill>
          <a:ln w="15875">
            <a:solidFill>
              <a:srgbClr val="5B8C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4309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118397" y="4581144"/>
            <a:ext cx="2296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 Ramos, Guillermo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432597" y="5303520"/>
            <a:ext cx="2890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· Pruebas &amp; documentación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94560"/>
            <a:ext cx="54864" cy="475488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0312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74520" y="210312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problema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0" y="2103120"/>
            <a:ext cx="45107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resolvemos y para quién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807208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898648"/>
            <a:ext cx="54864" cy="4754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80720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74520" y="280720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 del proyecto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2807208"/>
            <a:ext cx="45107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completa, servicios y flujos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11296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602736"/>
            <a:ext cx="54864" cy="475488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51129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874520" y="351129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0" y="3511296"/>
            <a:ext cx="45107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móvil Expo / React Native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215384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306824"/>
            <a:ext cx="54864" cy="475488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21538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874520" y="421538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0" y="4215384"/>
            <a:ext cx="45107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RAG con FastAPI, Gemini y pgvector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919472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010912"/>
            <a:ext cx="54864" cy="475488"/>
          </a:xfrm>
          <a:prstGeom prst="rect">
            <a:avLst/>
          </a:prstGeom>
          <a:solidFill>
            <a:srgbClr val="F5B94D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91947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B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874520" y="491947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0" y="4919472"/>
            <a:ext cx="45107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app en funcionamiento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62356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715000"/>
            <a:ext cx="54864" cy="47548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562356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874520" y="56235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trabajo futuro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858000" y="5623560"/>
            <a:ext cx="45107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y próximos pasos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Ciudad Universitaria de San Marcos es enorme y difícil de recorrer para quien no la conoce.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extenso:  </a:t>
            </a:r>
            <a:pPr algn="l" marL="228600" indent="-228600">
              <a:lnSpc>
                <a:spcPct val="16000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decenas de facultades, oficinas y servicios dispersos en ~1.2 km².</a:t>
            </a:r>
            <a:endParaRPr lang="en-US" sz="1350" dirty="0"/>
          </a:p>
          <a:p>
            <a:pPr algn="l" indent="0" marL="0">
              <a:lnSpc>
                <a:spcPct val="160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guía unificada:  </a:t>
            </a:r>
            <a:pPr algn="l" marL="228600" indent="-228600">
              <a:lnSpc>
                <a:spcPct val="16000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ingresantes, visitantes y postulantes se pierden buscando un lugar.</a:t>
            </a:r>
            <a:endParaRPr lang="en-US" sz="1350" dirty="0"/>
          </a:p>
          <a:p>
            <a:pPr algn="l" indent="0" marL="0">
              <a:lnSpc>
                <a:spcPct val="160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dispersa:  </a:t>
            </a:r>
            <a:pPr algn="l" marL="228600" indent="-228600">
              <a:lnSpc>
                <a:spcPct val="16000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horarios, teléfonos y ubicaciones viven en fuentes distintas.</a:t>
            </a:r>
            <a:endParaRPr lang="en-US" sz="1350" dirty="0"/>
          </a:p>
          <a:p>
            <a:pPr algn="l" indent="0" marL="0">
              <a:lnSpc>
                <a:spcPct val="160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Señalización limitada:  </a:t>
            </a:r>
            <a:pPr algn="l" marL="228600" indent="-228600">
              <a:lnSpc>
                <a:spcPct val="16000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una forma rápida de "¿cómo llego a…?".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37960" y="2103120"/>
            <a:ext cx="5013655" cy="3566160"/>
          </a:xfrm>
          <a:prstGeom prst="roundRect">
            <a:avLst>
              <a:gd name="adj" fmla="val 2051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2212848"/>
            <a:ext cx="54864" cy="334670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6739128" y="2221992"/>
            <a:ext cx="4647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 quién impacta?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12280" y="2697480"/>
            <a:ext cx="365760" cy="365760"/>
          </a:xfrm>
          <a:prstGeom prst="ellipse">
            <a:avLst/>
          </a:prstGeom>
          <a:solidFill>
            <a:srgbClr val="24304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Ingresantes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6092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contacto con el campus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3410712"/>
            <a:ext cx="365760" cy="365760"/>
          </a:xfrm>
          <a:prstGeom prst="ellipse">
            <a:avLst/>
          </a:prstGeom>
          <a:solidFill>
            <a:srgbClr val="24304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3364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Postulantes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60920" y="3666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 OCA, aulas de examen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4123944"/>
            <a:ext cx="365760" cy="365760"/>
          </a:xfrm>
          <a:prstGeom prst="ellipse">
            <a:avLst/>
          </a:prstGeom>
          <a:solidFill>
            <a:srgbClr val="24304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0782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60920" y="4379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Trámites, eventos, biblioteca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4837176"/>
            <a:ext cx="365760" cy="365760"/>
          </a:xfrm>
          <a:prstGeom prst="ellipse">
            <a:avLst/>
          </a:prstGeom>
          <a:solidFill>
            <a:srgbClr val="24304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47914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UNMSM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60920" y="5093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del día a día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solución: OndeSanMarcos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app que combina un mapa interactivo con un asistente que responde en lenguaje natural.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5227168" cy="1600200"/>
          </a:xfrm>
          <a:prstGeom prst="roundRect">
            <a:avLst>
              <a:gd name="adj" fmla="val 4571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04288"/>
            <a:ext cx="54864" cy="138074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31343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interactivo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2761488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 facultades, oficinas y servicios sobre Mapbox con detalle 3D.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24448" y="2194560"/>
            <a:ext cx="5227168" cy="1600200"/>
          </a:xfrm>
          <a:prstGeom prst="roundRect">
            <a:avLst>
              <a:gd name="adj" fmla="val 4571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4448" y="2304288"/>
            <a:ext cx="54864" cy="138074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16" name="Text 14"/>
          <p:cNvSpPr/>
          <p:nvPr/>
        </p:nvSpPr>
        <p:spPr>
          <a:xfrm>
            <a:off x="6525616" y="231343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 IA (RAG)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53048" y="2761488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preguntas del campus ancladas al conocimiento oficial.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5227168" cy="1600200"/>
          </a:xfrm>
          <a:prstGeom prst="roundRect">
            <a:avLst>
              <a:gd name="adj" fmla="val 4571"/>
            </a:avLst>
          </a:prstGeom>
          <a:solidFill>
            <a:srgbClr val="16171C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224528"/>
            <a:ext cx="54864" cy="138074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23367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paso a paso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681728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 el camino peatonal desde tu ubicación hasta el destino.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24448" y="4114800"/>
            <a:ext cx="5227168" cy="1600200"/>
          </a:xfrm>
          <a:prstGeom prst="roundRect">
            <a:avLst>
              <a:gd name="adj" fmla="val 4571"/>
            </a:avLst>
          </a:prstGeom>
          <a:solidFill>
            <a:srgbClr val="16171C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24448" y="4224528"/>
            <a:ext cx="54864" cy="1380744"/>
          </a:xfrm>
          <a:prstGeom prst="rect">
            <a:avLst/>
          </a:prstGeom>
          <a:solidFill>
            <a:srgbClr val="F5B94D"/>
          </a:solidFill>
          <a:ln/>
        </p:spPr>
      </p:sp>
      <p:sp>
        <p:nvSpPr>
          <p:cNvPr id="24" name="Text 22"/>
          <p:cNvSpPr/>
          <p:nvPr/>
        </p:nvSpPr>
        <p:spPr>
          <a:xfrm>
            <a:off x="6525616" y="423367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→ Mapa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53048" y="4681728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"¿Cómo llego al rectorado?" abre el mapa y dibuja la ruta.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5303520" cy="3611880"/>
          </a:xfrm>
          <a:prstGeom prst="roundRect">
            <a:avLst>
              <a:gd name="adj" fmla="val 2025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12848"/>
            <a:ext cx="54864" cy="339242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2219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26517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Facilitar la orientación dentro del campus de la UNMSM mediante una app móvil que integre mapa, rutas y un asistente conversacional confiable.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" y="3931920"/>
            <a:ext cx="4773168" cy="0"/>
          </a:xfrm>
          <a:prstGeom prst="line">
            <a:avLst/>
          </a:prstGeom>
          <a:noFill/>
          <a:ln w="12700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96112" y="4041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" y="43434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5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de la información</a:t>
            </a:r>
            <a:endParaRPr lang="en-US" sz="1200" dirty="0"/>
          </a:p>
          <a:p>
            <a:pPr algn="l" marL="228600" indent="-228600">
              <a:lnSpc>
                <a:spcPct val="15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móvil fluida</a:t>
            </a:r>
            <a:endParaRPr lang="en-US" sz="1200" dirty="0"/>
          </a:p>
          <a:p>
            <a:pPr algn="l" marL="228600" indent="-228600">
              <a:lnSpc>
                <a:spcPct val="15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ancladas (sin inventar)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2514600"/>
            <a:ext cx="5196535" cy="685800"/>
          </a:xfrm>
          <a:prstGeom prst="roundRect">
            <a:avLst>
              <a:gd name="adj" fmla="val 8000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5146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2606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Cartografía del campus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086600" y="2880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 lugares, coordenadas y entradas peatonales.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3319272"/>
            <a:ext cx="5196535" cy="685800"/>
          </a:xfrm>
          <a:prstGeom prst="roundRect">
            <a:avLst>
              <a:gd name="adj" fmla="val 8000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31927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3410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 RAG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86600" y="3685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 y generar respuestas del corpus oficial.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4123944"/>
            <a:ext cx="5196535" cy="685800"/>
          </a:xfrm>
          <a:prstGeom prst="roundRect">
            <a:avLst>
              <a:gd name="adj" fmla="val 8000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12394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86600" y="42153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Enrutamiento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086600" y="44897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más corto peatonal con grafo del campus.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4928616"/>
            <a:ext cx="5196535" cy="685800"/>
          </a:xfrm>
          <a:prstGeom prst="roundRect">
            <a:avLst>
              <a:gd name="adj" fmla="val 8000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92861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86600" y="50200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real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086600" y="52943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público y app instalable, reproducibles.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1D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77240" y="2651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del proyecto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77240" y="4041648"/>
            <a:ext cx="82296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224528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completa, servicios externos y el flujo de una consulta de extremo a extremo.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Composición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grandes piezas —app móvil y backend RAG— apoyadas en servicios gestionados.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58568"/>
            <a:ext cx="54864" cy="330098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2677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MÓVIL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2697480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69748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· React Native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3227832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2278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(Mapbox)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3758184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75818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asistente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" y="4288536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28853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peatonales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4818888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81888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(Supabase)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214884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258568"/>
            <a:ext cx="54864" cy="330098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25" name="Text 23"/>
          <p:cNvSpPr/>
          <p:nvPr/>
        </p:nvSpPr>
        <p:spPr>
          <a:xfrm>
            <a:off x="4590288" y="22677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RAG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17720" y="2697480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69748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17720" y="3227832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2278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RAG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3758184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75818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+ pgvector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4288536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428853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(Gemini)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17720" y="4818888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481888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38160" y="2148840"/>
            <a:ext cx="3413455" cy="3520440"/>
          </a:xfrm>
          <a:prstGeom prst="roundRect">
            <a:avLst>
              <a:gd name="adj" fmla="val 2143"/>
            </a:avLst>
          </a:prstGeom>
          <a:solidFill>
            <a:srgbClr val="16171C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2258568"/>
            <a:ext cx="54864" cy="3300984"/>
          </a:xfrm>
          <a:prstGeom prst="rect">
            <a:avLst/>
          </a:prstGeom>
          <a:solidFill>
            <a:srgbClr val="F5B94D"/>
          </a:solidFill>
          <a:ln/>
        </p:spPr>
      </p:sp>
      <p:sp>
        <p:nvSpPr>
          <p:cNvPr id="38" name="Text 36"/>
          <p:cNvSpPr/>
          <p:nvPr/>
        </p:nvSpPr>
        <p:spPr>
          <a:xfrm>
            <a:off x="8339328" y="2267712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366760" y="2697480"/>
            <a:ext cx="2956255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58200" y="2697480"/>
            <a:ext cx="2773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AI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366760" y="3227832"/>
            <a:ext cx="2956255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58200" y="3227832"/>
            <a:ext cx="2773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366760" y="3758184"/>
            <a:ext cx="2956255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58200" y="3758184"/>
            <a:ext cx="2773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Mapbox GL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366760" y="4288536"/>
            <a:ext cx="2956255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58200" y="4288536"/>
            <a:ext cx="2773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(hosting)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069080" y="3840480"/>
            <a:ext cx="320040" cy="0"/>
          </a:xfrm>
          <a:prstGeom prst="line">
            <a:avLst/>
          </a:prstGeom>
          <a:noFill/>
          <a:ln w="22225">
            <a:solidFill>
              <a:srgbClr val="9AA0AC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818120" y="3840480"/>
            <a:ext cx="320040" cy="0"/>
          </a:xfrm>
          <a:prstGeom prst="line">
            <a:avLst/>
          </a:prstGeom>
          <a:noFill/>
          <a:ln w="22225">
            <a:solidFill>
              <a:srgbClr val="9AA0AC"/>
            </a:solidFill>
            <a:prstDash val="solid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3886200" y="34564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635240" y="34564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completa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 una petición: del dispositivo al backend, y de éste a los servicios de IA y datos.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1762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· Móvil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2514600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514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UI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41248" y="2843784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8437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Mapbox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41248" y="3172968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1729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(grafo)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41248" y="3502152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502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· stores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92040" y="1874520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3208" y="19933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Render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74920" y="2286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/api/chat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74920" y="2606040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74920" y="3063240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3063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 (top-k)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74920" y="3520440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3520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lugares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74920" y="3977640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3977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· generación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74920" y="4434840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4434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respuesta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189720" y="1965960"/>
            <a:ext cx="2361895" cy="914400"/>
          </a:xfrm>
          <a:prstGeom prst="roundRect">
            <a:avLst>
              <a:gd name="adj" fmla="val 8000"/>
            </a:avLst>
          </a:prstGeom>
          <a:solidFill>
            <a:srgbClr val="16171C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89720" y="2075688"/>
            <a:ext cx="54864" cy="694944"/>
          </a:xfrm>
          <a:prstGeom prst="rect">
            <a:avLst/>
          </a:prstGeom>
          <a:solidFill>
            <a:srgbClr val="F5B94D"/>
          </a:solidFill>
          <a:ln/>
        </p:spPr>
      </p:sp>
      <p:sp>
        <p:nvSpPr>
          <p:cNvPr id="35" name="Text 33"/>
          <p:cNvSpPr/>
          <p:nvPr/>
        </p:nvSpPr>
        <p:spPr>
          <a:xfrm>
            <a:off x="9390888" y="2084832"/>
            <a:ext cx="1996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390888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embeddings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189720" y="3063240"/>
            <a:ext cx="2361895" cy="914400"/>
          </a:xfrm>
          <a:prstGeom prst="roundRect">
            <a:avLst>
              <a:gd name="adj" fmla="val 8000"/>
            </a:avLst>
          </a:prstGeom>
          <a:solidFill>
            <a:srgbClr val="16171C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89720" y="3172968"/>
            <a:ext cx="54864" cy="69494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9" name="Text 37"/>
          <p:cNvSpPr/>
          <p:nvPr/>
        </p:nvSpPr>
        <p:spPr>
          <a:xfrm>
            <a:off x="9390888" y="3182112"/>
            <a:ext cx="1996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390888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· Postgres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189720" y="4160520"/>
            <a:ext cx="2361895" cy="914400"/>
          </a:xfrm>
          <a:prstGeom prst="roundRect">
            <a:avLst>
              <a:gd name="adj" fmla="val 8000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89720" y="4270248"/>
            <a:ext cx="54864" cy="69494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43" name="Text 41"/>
          <p:cNvSpPr/>
          <p:nvPr/>
        </p:nvSpPr>
        <p:spPr>
          <a:xfrm>
            <a:off x="9390888" y="4279392"/>
            <a:ext cx="1996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Mapbox GL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390888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Teselas / mapa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0" y="2971800"/>
            <a:ext cx="1051560" cy="0"/>
          </a:xfrm>
          <a:prstGeom prst="line">
            <a:avLst/>
          </a:prstGeom>
          <a:noFill/>
          <a:ln w="22225">
            <a:solidFill>
              <a:srgbClr val="9AA0AC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3794760" y="26060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· JSON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138160" y="2788920"/>
            <a:ext cx="1051560" cy="-365760"/>
          </a:xfrm>
          <a:prstGeom prst="line">
            <a:avLst/>
          </a:prstGeom>
          <a:noFill/>
          <a:ln w="19050">
            <a:solidFill>
              <a:srgbClr val="F5B94D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138160" y="3291840"/>
            <a:ext cx="1051560" cy="22860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240280" y="3886200"/>
            <a:ext cx="0" cy="1645920"/>
          </a:xfrm>
          <a:prstGeom prst="line">
            <a:avLst/>
          </a:prstGeom>
          <a:noFill/>
          <a:ln w="15875">
            <a:solidFill>
              <a:srgbClr val="5B8CFF"/>
            </a:solidFill>
            <a:prstDash val="dash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2240280" y="5532120"/>
            <a:ext cx="6949440" cy="-914400"/>
          </a:xfrm>
          <a:prstGeom prst="line">
            <a:avLst/>
          </a:prstGeom>
          <a:noFill/>
          <a:ln w="15875">
            <a:solidFill>
              <a:srgbClr val="5B8CFF"/>
            </a:solidFill>
            <a:prstDash val="solid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4297680" y="5257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pide teselas directo a Mapbox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40080" y="4160520"/>
            <a:ext cx="3200400" cy="960120"/>
          </a:xfrm>
          <a:prstGeom prst="roundRect">
            <a:avLst>
              <a:gd name="adj" fmla="val 5714"/>
            </a:avLst>
          </a:prstGeom>
          <a:solidFill>
            <a:srgbClr val="0E0E12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8229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Ingesta offline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22960" y="4526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unmsm_info.md → chunks →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→ pgvector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91840" y="4480560"/>
            <a:ext cx="5897880" cy="-123444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2453564" cy="3566160"/>
          </a:xfrm>
          <a:prstGeom prst="roundRect">
            <a:avLst>
              <a:gd name="adj" fmla="val 2981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58568"/>
            <a:ext cx="54864" cy="334670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267712"/>
            <a:ext cx="20878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20420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~54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0.81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TypeScript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Navigation 7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5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@rnmapbox/maps 10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expo-location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59404" y="2148840"/>
            <a:ext cx="2453564" cy="3566160"/>
          </a:xfrm>
          <a:prstGeom prst="roundRect">
            <a:avLst>
              <a:gd name="adj" fmla="val 2981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9404" y="2258568"/>
            <a:ext cx="54864" cy="334670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15" name="Text 13"/>
          <p:cNvSpPr/>
          <p:nvPr/>
        </p:nvSpPr>
        <p:spPr>
          <a:xfrm>
            <a:off x="3660572" y="2267712"/>
            <a:ext cx="20878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88004" y="2697480"/>
            <a:ext cx="20420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0.136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2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google-genai 2.10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supabase-py 2.31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Uvicorn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78728" y="2148840"/>
            <a:ext cx="2453564" cy="3566160"/>
          </a:xfrm>
          <a:prstGeom prst="roundRect">
            <a:avLst>
              <a:gd name="adj" fmla="val 2981"/>
            </a:avLst>
          </a:prstGeom>
          <a:solidFill>
            <a:srgbClr val="16171C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2258568"/>
            <a:ext cx="54864" cy="3346704"/>
          </a:xfrm>
          <a:prstGeom prst="rect">
            <a:avLst/>
          </a:prstGeom>
          <a:solidFill>
            <a:srgbClr val="F5B94D"/>
          </a:solidFill>
          <a:ln/>
        </p:spPr>
      </p:sp>
      <p:sp>
        <p:nvSpPr>
          <p:cNvPr id="19" name="Text 17"/>
          <p:cNvSpPr/>
          <p:nvPr/>
        </p:nvSpPr>
        <p:spPr>
          <a:xfrm>
            <a:off x="6479896" y="2267712"/>
            <a:ext cx="20878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&amp; 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07328" y="2697480"/>
            <a:ext cx="20420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gemini-embedding-001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· Postgres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(HNSW)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Mapbox GL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oficial UNMSM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98051" y="2148840"/>
            <a:ext cx="2453564" cy="3566160"/>
          </a:xfrm>
          <a:prstGeom prst="roundRect">
            <a:avLst>
              <a:gd name="adj" fmla="val 2981"/>
            </a:avLst>
          </a:prstGeom>
          <a:solidFill>
            <a:srgbClr val="16171C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051" y="2258568"/>
            <a:ext cx="54864" cy="334670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9299219" y="2267712"/>
            <a:ext cx="20878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&amp; Dev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651" y="2697480"/>
            <a:ext cx="20420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(blueprint)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· monorepo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Auto-deploy CI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 / Expo build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dotenv · secrets</a:t>
            </a:r>
            <a:endParaRPr lang="en-US" sz="1100" dirty="0"/>
          </a:p>
          <a:p>
            <a:pPr marL="152400" indent="-1524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(Supabase local)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servicios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 de cada servicio gestionado y cómo se conecta con el sistema.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800" y="3063240"/>
            <a:ext cx="1691640" cy="1691640"/>
          </a:xfrm>
          <a:prstGeom prst="ellipse">
            <a:avLst/>
          </a:prstGeom>
          <a:solidFill>
            <a:srgbClr val="1D1F26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306324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88720" y="21488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2258568"/>
            <a:ext cx="54864" cy="101498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14" name="Text 12"/>
          <p:cNvSpPr/>
          <p:nvPr/>
        </p:nvSpPr>
        <p:spPr>
          <a:xfrm>
            <a:off x="1389888" y="22677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08176" y="26243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 el backend FastAPI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auto-despliega en cada push.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412480" y="21488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6171C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2258568"/>
            <a:ext cx="54864" cy="1014984"/>
          </a:xfrm>
          <a:prstGeom prst="rect">
            <a:avLst/>
          </a:prstGeom>
          <a:solidFill>
            <a:srgbClr val="F5B94D"/>
          </a:solidFill>
          <a:ln/>
        </p:spPr>
      </p:sp>
      <p:sp>
        <p:nvSpPr>
          <p:cNvPr id="18" name="Text 16"/>
          <p:cNvSpPr/>
          <p:nvPr/>
        </p:nvSpPr>
        <p:spPr>
          <a:xfrm>
            <a:off x="8613648" y="22677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31936" y="26243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de generación y modelo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embeddings (768 dims).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188720" y="4160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6171C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4270248"/>
            <a:ext cx="54864" cy="10149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2" name="Text 20"/>
          <p:cNvSpPr/>
          <p:nvPr/>
        </p:nvSpPr>
        <p:spPr>
          <a:xfrm>
            <a:off x="1389888" y="4279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08176" y="46360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+ pgvector para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semántica y Auth.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412480" y="4160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4270248"/>
            <a:ext cx="54864" cy="101498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8613648" y="4279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Mapbox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31936" y="46360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Teselas del mapa, estilo y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3D del campus.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57800" y="3566160"/>
            <a:ext cx="-1463040" cy="-822960"/>
          </a:xfrm>
          <a:prstGeom prst="line">
            <a:avLst/>
          </a:prstGeom>
          <a:noFill/>
          <a:ln w="15875">
            <a:solidFill>
              <a:srgbClr val="2DD4A7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949440" y="3566160"/>
            <a:ext cx="1463040" cy="-822960"/>
          </a:xfrm>
          <a:prstGeom prst="line">
            <a:avLst/>
          </a:prstGeom>
          <a:noFill/>
          <a:ln w="15875">
            <a:solidFill>
              <a:srgbClr val="F5B94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257800" y="4206240"/>
            <a:ext cx="-1463040" cy="457200"/>
          </a:xfrm>
          <a:prstGeom prst="line">
            <a:avLst/>
          </a:prstGeom>
          <a:noFill/>
          <a:ln w="15875">
            <a:solidFill>
              <a:srgbClr val="4ADE80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949440" y="4206240"/>
            <a:ext cx="1463040" cy="457200"/>
          </a:xfrm>
          <a:prstGeom prst="line">
            <a:avLst/>
          </a:prstGeom>
          <a:noFill/>
          <a:ln w="15875">
            <a:solidFill>
              <a:srgbClr val="5B8CFF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una consulta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"¿A qué hora abre la biblioteca?" — de la pregunta a la respuesta anclada.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10911535" cy="548640"/>
          </a:xfrm>
          <a:prstGeom prst="roundRect">
            <a:avLst>
              <a:gd name="adj" fmla="val 10000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340864"/>
            <a:ext cx="347472" cy="347472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240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2240280"/>
            <a:ext cx="7528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la consulta en el chat de la app.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78408" y="2788920"/>
            <a:ext cx="0" cy="73152"/>
          </a:xfrm>
          <a:prstGeom prst="line">
            <a:avLst/>
          </a:prstGeom>
          <a:noFill/>
          <a:ln w="12700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2862072"/>
            <a:ext cx="10911535" cy="548640"/>
          </a:xfrm>
          <a:prstGeom prst="roundRect">
            <a:avLst>
              <a:gd name="adj" fmla="val 10000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2962656"/>
            <a:ext cx="347472" cy="347472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2862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móvil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2862072"/>
            <a:ext cx="7528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/api/chat { query } al backend en Render.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78408" y="3410712"/>
            <a:ext cx="0" cy="73152"/>
          </a:xfrm>
          <a:prstGeom prst="line">
            <a:avLst/>
          </a:prstGeom>
          <a:noFill/>
          <a:ln w="12700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0080" y="3483864"/>
            <a:ext cx="10911535" cy="548640"/>
          </a:xfrm>
          <a:prstGeom prst="roundRect">
            <a:avLst>
              <a:gd name="adj" fmla="val 10000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3584448"/>
            <a:ext cx="347472" cy="347472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34838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0480" y="3483864"/>
            <a:ext cx="7528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 del dominio UNMSM? Si no, declina.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78408" y="4032504"/>
            <a:ext cx="0" cy="73152"/>
          </a:xfrm>
          <a:prstGeom prst="line">
            <a:avLst/>
          </a:prstGeom>
          <a:noFill/>
          <a:ln w="12700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0080" y="4105656"/>
            <a:ext cx="10911535" cy="548640"/>
          </a:xfrm>
          <a:prstGeom prst="roundRect">
            <a:avLst>
              <a:gd name="adj" fmla="val 10000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" y="4206240"/>
            <a:ext cx="347472" cy="347472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41056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Recuperación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840480" y="4105656"/>
            <a:ext cx="7528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Embebe la consulta y busca en pgvector (coseno).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78408" y="4654296"/>
            <a:ext cx="0" cy="73152"/>
          </a:xfrm>
          <a:prstGeom prst="line">
            <a:avLst/>
          </a:prstGeom>
          <a:noFill/>
          <a:ln w="12700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40080" y="4727448"/>
            <a:ext cx="10911535" cy="548640"/>
          </a:xfrm>
          <a:prstGeom prst="roundRect">
            <a:avLst>
              <a:gd name="adj" fmla="val 10000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" y="4828032"/>
            <a:ext cx="347472" cy="347472"/>
          </a:xfrm>
          <a:prstGeom prst="ellipse">
            <a:avLst/>
          </a:prstGeom>
          <a:solidFill>
            <a:srgbClr val="F5B94D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" y="4828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371600" y="4727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40480" y="4727448"/>
            <a:ext cx="7528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la respuesta anclada al contexto recuperado.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78408" y="5276088"/>
            <a:ext cx="0" cy="73152"/>
          </a:xfrm>
          <a:prstGeom prst="line">
            <a:avLst/>
          </a:prstGeom>
          <a:noFill/>
          <a:ln w="12700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40080" y="5349240"/>
            <a:ext cx="10911535" cy="548640"/>
          </a:xfrm>
          <a:prstGeom prst="roundRect">
            <a:avLst>
              <a:gd name="adj" fmla="val 10000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" y="5449824"/>
            <a:ext cx="347472" cy="347472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42" name="Text 40"/>
          <p:cNvSpPr/>
          <p:nvPr/>
        </p:nvSpPr>
        <p:spPr>
          <a:xfrm>
            <a:off x="804672" y="5449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371600" y="5349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840480" y="5349240"/>
            <a:ext cx="7528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answer, locations, draw_route } de vuelta a la app.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despliegue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componente vive donde mejor rinde; el repositorio es la fuente de la verdad.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3332378" cy="3337560"/>
          </a:xfrm>
          <a:prstGeom prst="roundRect">
            <a:avLst>
              <a:gd name="adj" fmla="val 2195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04288"/>
            <a:ext cx="54864" cy="311810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313432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 del usuario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2743200"/>
            <a:ext cx="292089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Expo / React Native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 EAS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Cachea mapa y estado local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teselas a Mapbox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72458" y="3840480"/>
            <a:ext cx="457200" cy="0"/>
          </a:xfrm>
          <a:prstGeom prst="line">
            <a:avLst/>
          </a:prstGeom>
          <a:noFill/>
          <a:ln w="19050">
            <a:solidFill>
              <a:srgbClr val="9AA0A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29658" y="2194560"/>
            <a:ext cx="3332378" cy="3337560"/>
          </a:xfrm>
          <a:prstGeom prst="roundRect">
            <a:avLst>
              <a:gd name="adj" fmla="val 2195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29658" y="2304288"/>
            <a:ext cx="54864" cy="311810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17" name="Text 15"/>
          <p:cNvSpPr/>
          <p:nvPr/>
        </p:nvSpPr>
        <p:spPr>
          <a:xfrm>
            <a:off x="4630826" y="2313432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 de aplicación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58258" y="2743200"/>
            <a:ext cx="292089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· web service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Uvicorn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render.yaml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Auto-deploy en push a main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62037" y="3840480"/>
            <a:ext cx="457200" cy="0"/>
          </a:xfrm>
          <a:prstGeom prst="line">
            <a:avLst/>
          </a:prstGeom>
          <a:noFill/>
          <a:ln w="19050">
            <a:solidFill>
              <a:srgbClr val="9AA0A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19237" y="2194560"/>
            <a:ext cx="3332378" cy="3337560"/>
          </a:xfrm>
          <a:prstGeom prst="roundRect">
            <a:avLst>
              <a:gd name="adj" fmla="val 2195"/>
            </a:avLst>
          </a:prstGeom>
          <a:solidFill>
            <a:srgbClr val="16171C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9237" y="2304288"/>
            <a:ext cx="54864" cy="3118104"/>
          </a:xfrm>
          <a:prstGeom prst="rect">
            <a:avLst/>
          </a:prstGeom>
          <a:solidFill>
            <a:srgbClr val="F5B94D"/>
          </a:solidFill>
          <a:ln/>
        </p:spPr>
      </p:sp>
      <p:sp>
        <p:nvSpPr>
          <p:cNvPr id="22" name="Text 20"/>
          <p:cNvSpPr/>
          <p:nvPr/>
        </p:nvSpPr>
        <p:spPr>
          <a:xfrm>
            <a:off x="8420405" y="2313432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 de datos e IA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47837" y="2743200"/>
            <a:ext cx="292089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· Postgres + pgvector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API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Secretos por variables de entorno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 reproducible (schema.sql)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1D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77240" y="2651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móvil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77240" y="4041648"/>
            <a:ext cx="822960" cy="5486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224528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+ React Native · mapa interactivo, asistente conversacional y enrutamiento peatonal.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general de la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multiplataforma construida con Expo; UI declarativa por features y estado global ligero.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Multiplataforma: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código para Android e iOS con Expo / React Native.</a:t>
            </a:r>
            <a:endParaRPr lang="en-US" sz="1300" dirty="0"/>
          </a:p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por features: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dominio (map, chat, routing, auth) es autocontenido.</a:t>
            </a:r>
            <a:endParaRPr lang="en-US" sz="1300" dirty="0"/>
          </a:p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con Zustand: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pequeños y desacoplados, sin boilerplate.</a:t>
            </a:r>
            <a:endParaRPr lang="en-US" sz="1300" dirty="0"/>
          </a:p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nativo: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@rnmapbox/maps para rendimiento y capas 3D del campus.</a:t>
            </a:r>
            <a:endParaRPr lang="en-US" sz="1300" dirty="0"/>
          </a:p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 el backend: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HTTP tipado contra /api/chat, con modo mock de respaldo.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2148840"/>
            <a:ext cx="4830775" cy="3566160"/>
          </a:xfrm>
          <a:prstGeom prst="roundRect">
            <a:avLst>
              <a:gd name="adj" fmla="val 2051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2258568"/>
            <a:ext cx="54864" cy="334670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6922008" y="2267712"/>
            <a:ext cx="4465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números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2104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de dominio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3429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21040" y="3429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Zustand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21040" y="4160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lugares del campus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4892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21040" y="4892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modos: real / mock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por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 organizado por dominio; el núcleo (core) y los servicios son transversales.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16171C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221992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251460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5146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navigation/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251460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5146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store/ (Zustand)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01000" y="251460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25146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providers/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15468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273552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features/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3611880"/>
            <a:ext cx="1907987" cy="777240"/>
          </a:xfrm>
          <a:prstGeom prst="roundRect">
            <a:avLst>
              <a:gd name="adj" fmla="val 7059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639312"/>
            <a:ext cx="1907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auth/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913632"/>
            <a:ext cx="1907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005267" y="3611880"/>
            <a:ext cx="1907987" cy="777240"/>
          </a:xfrm>
          <a:prstGeom prst="roundRect">
            <a:avLst>
              <a:gd name="adj" fmla="val 7059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05267" y="3639312"/>
            <a:ext cx="1907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map/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05267" y="3913632"/>
            <a:ext cx="1907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41854" y="3611880"/>
            <a:ext cx="1907987" cy="777240"/>
          </a:xfrm>
          <a:prstGeom prst="roundRect">
            <a:avLst>
              <a:gd name="adj" fmla="val 7059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1854" y="3639312"/>
            <a:ext cx="1907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chat/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41854" y="3913632"/>
            <a:ext cx="1907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278441" y="3611880"/>
            <a:ext cx="1907987" cy="777240"/>
          </a:xfrm>
          <a:prstGeom prst="roundRect">
            <a:avLst>
              <a:gd name="adj" fmla="val 7059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78441" y="3639312"/>
            <a:ext cx="1907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routing/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78441" y="3913632"/>
            <a:ext cx="1907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415028" y="3611880"/>
            <a:ext cx="1907987" cy="777240"/>
          </a:xfrm>
          <a:prstGeom prst="roundRect">
            <a:avLst>
              <a:gd name="adj" fmla="val 7059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5028" y="3639312"/>
            <a:ext cx="1907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profile/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15028" y="3913632"/>
            <a:ext cx="1907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0080" y="4709160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8280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services/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68680" y="5138928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51389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api/ (client, chatApi)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566160" y="5138928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0" y="51389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supabase/ (auth, client)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20840" y="4709160"/>
            <a:ext cx="4830775" cy="960120"/>
          </a:xfrm>
          <a:prstGeom prst="roundRect">
            <a:avLst>
              <a:gd name="adj" fmla="val 7619"/>
            </a:avLst>
          </a:prstGeom>
          <a:solidFill>
            <a:srgbClr val="16171C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22008" y="4828032"/>
            <a:ext cx="4465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shared/ · theme/ · constants/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949440" y="51389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UI, tokens de tema, Config (env)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módulos (chat)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colaboran pantalla, hook, stores y cliente HTTP al enviar una consulta.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2788920" cy="1371600"/>
          </a:xfrm>
          <a:prstGeom prst="roundRect">
            <a:avLst>
              <a:gd name="adj" fmla="val 3333"/>
            </a:avLst>
          </a:prstGeom>
          <a:solidFill>
            <a:srgbClr val="16171C"/>
          </a:solidFill>
          <a:ln w="15875">
            <a:solidFill>
              <a:srgbClr val="5B8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48840"/>
            <a:ext cx="2788920" cy="384048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76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«screen»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0080" y="229514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ChatScreen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532888"/>
            <a:ext cx="2788920" cy="0"/>
          </a:xfrm>
          <a:prstGeom prst="line">
            <a:avLst/>
          </a:prstGeom>
          <a:noFill/>
          <a:ln w="12700">
            <a:solidFill>
              <a:srgbClr val="5B8CFF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749808" y="2569464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messages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inputText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2788920" cy="0"/>
          </a:xfrm>
          <a:prstGeom prst="line">
            <a:avLst/>
          </a:prstGeom>
          <a:noFill/>
          <a:ln w="12700">
            <a:solidFill>
              <a:srgbClr val="5B8CFF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749808" y="3063240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sendMessage()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renderMessage()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2788920" cy="1371600"/>
          </a:xfrm>
          <a:prstGeom prst="roundRect">
            <a:avLst>
              <a:gd name="adj" fmla="val 3333"/>
            </a:avLst>
          </a:prstGeom>
          <a:solidFill>
            <a:srgbClr val="16171C"/>
          </a:solidFill>
          <a:ln w="15875">
            <a:solidFill>
              <a:srgbClr val="5B8C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160520"/>
            <a:ext cx="2788920" cy="384048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8795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«hook»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0080" y="430682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useChat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544568"/>
            <a:ext cx="2788920" cy="0"/>
          </a:xfrm>
          <a:prstGeom prst="line">
            <a:avLst/>
          </a:prstGeom>
          <a:noFill/>
          <a:ln w="12700">
            <a:solidFill>
              <a:srgbClr val="5B8CFF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749808" y="4581144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chatState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isLoading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5038344"/>
            <a:ext cx="2788920" cy="0"/>
          </a:xfrm>
          <a:prstGeom prst="line">
            <a:avLst/>
          </a:prstGeom>
          <a:noFill/>
          <a:ln w="12700">
            <a:solidFill>
              <a:srgbClr val="5B8CFF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49808" y="5074920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requestReply()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retryMessage()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43400" y="2148840"/>
            <a:ext cx="2788920" cy="1371600"/>
          </a:xfrm>
          <a:prstGeom prst="roundRect">
            <a:avLst>
              <a:gd name="adj" fmla="val 3333"/>
            </a:avLst>
          </a:prstGeom>
          <a:solidFill>
            <a:srgbClr val="16171C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2148840"/>
            <a:ext cx="2788920" cy="384048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28" name="Text 26"/>
          <p:cNvSpPr/>
          <p:nvPr/>
        </p:nvSpPr>
        <p:spPr>
          <a:xfrm>
            <a:off x="4343400" y="2176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«store»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343400" y="229514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useChatStore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43400" y="2532888"/>
            <a:ext cx="278892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4453128" y="2569464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conversations[]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activeId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43400" y="3026664"/>
            <a:ext cx="278892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4453128" y="3063240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addMessage()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startNew()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43400" y="4160520"/>
            <a:ext cx="2788920" cy="1147572"/>
          </a:xfrm>
          <a:prstGeom prst="roundRect">
            <a:avLst>
              <a:gd name="adj" fmla="val 3984"/>
            </a:avLst>
          </a:prstGeom>
          <a:solidFill>
            <a:srgbClr val="16171C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43400" y="4160520"/>
            <a:ext cx="2788920" cy="384048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36" name="Text 34"/>
          <p:cNvSpPr/>
          <p:nvPr/>
        </p:nvSpPr>
        <p:spPr>
          <a:xfrm>
            <a:off x="4343400" y="418795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«store»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343400" y="430682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useMapStore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343400" y="4544568"/>
            <a:ext cx="278892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4453128" y="4581144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focusTarget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userLocation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43400" y="5038344"/>
            <a:ext cx="278892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4453128" y="5074920"/>
            <a:ext cx="2606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setFocusTarget()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275320" y="2148840"/>
            <a:ext cx="2880360" cy="877824"/>
          </a:xfrm>
          <a:prstGeom prst="roundRect">
            <a:avLst>
              <a:gd name="adj" fmla="val 5208"/>
            </a:avLst>
          </a:prstGeom>
          <a:solidFill>
            <a:srgbClr val="16171C"/>
          </a:solidFill>
          <a:ln w="15875">
            <a:solidFill>
              <a:srgbClr val="2DD4A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75320" y="2148840"/>
            <a:ext cx="2880360" cy="384048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44" name="Text 42"/>
          <p:cNvSpPr/>
          <p:nvPr/>
        </p:nvSpPr>
        <p:spPr>
          <a:xfrm>
            <a:off x="8275320" y="217627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«service»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275320" y="229514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chatApi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275320" y="2532888"/>
            <a:ext cx="2880360" cy="0"/>
          </a:xfrm>
          <a:prstGeom prst="line">
            <a:avLst/>
          </a:prstGeom>
          <a:noFill/>
          <a:ln w="12700">
            <a:solidFill>
              <a:srgbClr val="2DD4A7"/>
            </a:solidFill>
            <a:prstDash val="solid"/>
            <a:headEnd type="none"/>
            <a:tailEnd type="none"/>
          </a:ln>
        </p:spPr>
      </p:sp>
      <p:sp>
        <p:nvSpPr>
          <p:cNvPr id="47" name="Text 45"/>
          <p:cNvSpPr/>
          <p:nvPr/>
        </p:nvSpPr>
        <p:spPr>
          <a:xfrm>
            <a:off x="8385048" y="2569464"/>
            <a:ext cx="2697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sendChatQuery(q)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normaliza snake→camel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275320" y="3794760"/>
            <a:ext cx="2880360" cy="1147572"/>
          </a:xfrm>
          <a:prstGeom prst="roundRect">
            <a:avLst>
              <a:gd name="adj" fmla="val 3984"/>
            </a:avLst>
          </a:prstGeom>
          <a:solidFill>
            <a:srgbClr val="16171C"/>
          </a:solidFill>
          <a:ln w="15875">
            <a:solidFill>
              <a:srgbClr val="2DD4A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75320" y="3794760"/>
            <a:ext cx="2880360" cy="384048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50" name="Text 48"/>
          <p:cNvSpPr/>
          <p:nvPr/>
        </p:nvSpPr>
        <p:spPr>
          <a:xfrm>
            <a:off x="8275320" y="382219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«service»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275320" y="394106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apiClient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275320" y="4178808"/>
            <a:ext cx="2880360" cy="0"/>
          </a:xfrm>
          <a:prstGeom prst="line">
            <a:avLst/>
          </a:prstGeom>
          <a:noFill/>
          <a:ln w="12700">
            <a:solidFill>
              <a:srgbClr val="2DD4A7"/>
            </a:solidFill>
            <a:prstDash val="solid"/>
            <a:headEnd type="none"/>
            <a:tailEnd type="none"/>
          </a:ln>
        </p:spPr>
      </p:sp>
      <p:sp>
        <p:nvSpPr>
          <p:cNvPr id="53" name="Text 51"/>
          <p:cNvSpPr/>
          <p:nvPr/>
        </p:nvSpPr>
        <p:spPr>
          <a:xfrm>
            <a:off x="8385048" y="4215384"/>
            <a:ext cx="2697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baseUrl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timeout 60s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275320" y="4672584"/>
            <a:ext cx="2880360" cy="0"/>
          </a:xfrm>
          <a:prstGeom prst="line">
            <a:avLst/>
          </a:prstGeom>
          <a:noFill/>
          <a:ln w="12700">
            <a:solidFill>
              <a:srgbClr val="2DD4A7"/>
            </a:solidFill>
            <a:prstDash val="solid"/>
            <a:headEnd type="none"/>
            <a:tailEnd type="none"/>
          </a:ln>
        </p:spPr>
      </p:sp>
      <p:sp>
        <p:nvSpPr>
          <p:cNvPr id="55" name="Text 53"/>
          <p:cNvSpPr/>
          <p:nvPr/>
        </p:nvSpPr>
        <p:spPr>
          <a:xfrm>
            <a:off x="8385048" y="4709160"/>
            <a:ext cx="2697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post() · AbortController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011680" y="4160520"/>
            <a:ext cx="0" cy="-457200"/>
          </a:xfrm>
          <a:prstGeom prst="line">
            <a:avLst/>
          </a:prstGeom>
          <a:noFill/>
          <a:ln w="15875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2788920" y="2743200"/>
            <a:ext cx="1554480" cy="365760"/>
          </a:xfrm>
          <a:prstGeom prst="line">
            <a:avLst/>
          </a:prstGeom>
          <a:noFill/>
          <a:ln w="15875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2788920" y="4846320"/>
            <a:ext cx="1554480" cy="91440"/>
          </a:xfrm>
          <a:prstGeom prst="line">
            <a:avLst/>
          </a:prstGeom>
          <a:noFill/>
          <a:ln w="15875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788920" y="4480560"/>
            <a:ext cx="5486400" cy="-1463040"/>
          </a:xfrm>
          <a:prstGeom prst="line">
            <a:avLst/>
          </a:prstGeom>
          <a:noFill/>
          <a:ln w="15875">
            <a:solidFill>
              <a:srgbClr val="2DD4A7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9692640" y="3794760"/>
            <a:ext cx="0" cy="-484632"/>
          </a:xfrm>
          <a:prstGeom prst="line">
            <a:avLst/>
          </a:prstGeom>
          <a:noFill/>
          <a:ln w="15875">
            <a:solidFill>
              <a:srgbClr val="3B3E4A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estado · Zustand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stores independientes; se persiste lo necesario en AsyncStorage.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5227168" cy="1554480"/>
          </a:xfrm>
          <a:prstGeom prst="roundRect">
            <a:avLst>
              <a:gd name="adj" fmla="val 4706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04288"/>
            <a:ext cx="54864" cy="133502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31343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useChatStore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74320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Conversaciones, mensajes, estado del chat e historial.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329184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· AsyncStorage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324448" y="2194560"/>
            <a:ext cx="5227168" cy="1554480"/>
          </a:xfrm>
          <a:prstGeom prst="roundRect">
            <a:avLst>
              <a:gd name="adj" fmla="val 4706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4448" y="2304288"/>
            <a:ext cx="54864" cy="133502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18" name="Text 16"/>
          <p:cNvSpPr/>
          <p:nvPr/>
        </p:nvSpPr>
        <p:spPr>
          <a:xfrm>
            <a:off x="6525616" y="231343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useMapStore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53048" y="274320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focusTarget, ubicación del usuario, ruta activa, lugar enfocado.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53048" y="329184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4488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· en memoria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" y="4069080"/>
            <a:ext cx="5227168" cy="1554480"/>
          </a:xfrm>
          <a:prstGeom prst="roundRect">
            <a:avLst>
              <a:gd name="adj" fmla="val 4706"/>
            </a:avLst>
          </a:prstGeom>
          <a:solidFill>
            <a:srgbClr val="16171C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178808"/>
            <a:ext cx="54864" cy="133502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418795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useThemeStore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461772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claro/oscuro y color primario de la UI.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8680" y="516636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166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· AsyncStorage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24448" y="4069080"/>
            <a:ext cx="5227168" cy="1554480"/>
          </a:xfrm>
          <a:prstGeom prst="roundRect">
            <a:avLst>
              <a:gd name="adj" fmla="val 4706"/>
            </a:avLst>
          </a:prstGeom>
          <a:solidFill>
            <a:srgbClr val="16171C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24448" y="4178808"/>
            <a:ext cx="54864" cy="1335024"/>
          </a:xfrm>
          <a:prstGeom prst="rect">
            <a:avLst/>
          </a:prstGeom>
          <a:solidFill>
            <a:srgbClr val="F5B94D"/>
          </a:solidFill>
          <a:ln/>
        </p:spPr>
      </p:sp>
      <p:sp>
        <p:nvSpPr>
          <p:cNvPr id="30" name="Text 28"/>
          <p:cNvSpPr/>
          <p:nvPr/>
        </p:nvSpPr>
        <p:spPr>
          <a:xfrm>
            <a:off x="6525616" y="418795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useAuthStore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53048" y="461772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y perfil del usuario (vía Supabase Auth).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53048" y="516636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44488" y="5166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· sesión Supabase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Navigation: un stack de autenticación y, tras iniciar sesión, las pestañas principales.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92040" y="2148840"/>
            <a:ext cx="2423160" cy="640080"/>
          </a:xfrm>
          <a:prstGeom prst="roundRect">
            <a:avLst>
              <a:gd name="adj" fmla="val 11429"/>
            </a:avLst>
          </a:prstGeom>
          <a:solidFill>
            <a:srgbClr val="16171C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93208" y="22677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AppNavigator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32004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16171C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310128"/>
            <a:ext cx="54864" cy="1975104"/>
          </a:xfrm>
          <a:prstGeom prst="rect">
            <a:avLst/>
          </a:prstGeom>
          <a:solidFill>
            <a:srgbClr val="F5B94D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33192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AuthStack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88720" y="370332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88720" y="4032504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032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88720" y="436168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4361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88720" y="469087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4690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188720" y="502005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50200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3200400"/>
            <a:ext cx="2423160" cy="2194560"/>
          </a:xfrm>
          <a:prstGeom prst="roundRect">
            <a:avLst>
              <a:gd name="adj" fmla="val 3333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3310128"/>
            <a:ext cx="54864" cy="197510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93208" y="33192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MainTabs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74920" y="3703320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4160520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4160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4617720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46177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03920" y="32004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03920" y="3310128"/>
            <a:ext cx="54864" cy="197510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36" name="Text 34"/>
          <p:cNvSpPr/>
          <p:nvPr/>
        </p:nvSpPr>
        <p:spPr>
          <a:xfrm>
            <a:off x="8705088" y="33192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ProfileStack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686800" y="370332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0" y="370332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686800" y="4105656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0" y="410565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 perfil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686800" y="4507992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0" y="450799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686800" y="491032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0" y="49103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77840" y="2788920"/>
            <a:ext cx="-1554480" cy="411480"/>
          </a:xfrm>
          <a:prstGeom prst="line">
            <a:avLst/>
          </a:prstGeom>
          <a:noFill/>
          <a:ln w="15875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3566160" y="28803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sesión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99048" y="2788920"/>
            <a:ext cx="0" cy="411480"/>
          </a:xfrm>
          <a:prstGeom prst="line">
            <a:avLst/>
          </a:prstGeom>
          <a:noFill/>
          <a:ln w="15875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6126480" y="28529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sesión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315200" y="4297680"/>
            <a:ext cx="1188720" cy="0"/>
          </a:xfrm>
          <a:prstGeom prst="line">
            <a:avLst/>
          </a:prstGeom>
          <a:noFill/>
          <a:ln w="15875">
            <a:solidFill>
              <a:srgbClr val="3B3E4A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· FEATURE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interactivo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corazón visual: ubica lugares, sigue al usuario y dibuja rutas sobre Mapbox.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Mapbox nativo: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 del campus, capas 3D de edificios y marcadores por categoría.</a:t>
            </a:r>
            <a:endParaRPr lang="en-US" sz="1300" dirty="0"/>
          </a:p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en vivo: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expo-location + brújula para seguir y orientar al usuario.</a:t>
            </a:r>
            <a:endParaRPr lang="en-US" sz="1300" dirty="0"/>
          </a:p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de lugar: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horario, servicios y acción "cómo llegar" al tocar un punto.</a:t>
            </a:r>
            <a:endParaRPr lang="en-US" sz="1300" dirty="0"/>
          </a:p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Modos: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libre, guía y selección de ruta (origen → destino).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32520" y="2148840"/>
            <a:ext cx="2331720" cy="3520440"/>
          </a:xfrm>
          <a:prstGeom prst="roundRect">
            <a:avLst>
              <a:gd name="adj" fmla="val 5490"/>
            </a:avLst>
          </a:prstGeom>
          <a:solidFill>
            <a:srgbClr val="0E0E12"/>
          </a:solidFill>
          <a:ln w="15875">
            <a:solidFill>
              <a:srgbClr val="5B8CF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642348" y="224028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/>
        </p:spPr>
      </p:sp>
      <p:sp>
        <p:nvSpPr>
          <p:cNvPr id="13" name="Text 11"/>
          <p:cNvSpPr/>
          <p:nvPr/>
        </p:nvSpPr>
        <p:spPr>
          <a:xfrm>
            <a:off x="8732520" y="34061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05672" y="377190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del mapa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marcadores y ruta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41080" y="57241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MapScreen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· FEATURE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 conversacional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que consume el backend RAG y, si detecta intención de ruta, salta al mapa.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en lenguaje natural: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"¿dónde queda la biblioteca?", "horario del comedor".</a:t>
            </a:r>
            <a:endParaRPr lang="en-US" sz="1300" dirty="0"/>
          </a:p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ancladas: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tarjetas de lugar con "Ver en mapa".</a:t>
            </a:r>
            <a:endParaRPr lang="en-US" sz="1300" dirty="0"/>
          </a:p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→ Mapa (HU-2.3):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"cómo llego a…" fija el destino y dibuja la ruta.</a:t>
            </a:r>
            <a:endParaRPr lang="en-US" sz="1300" dirty="0"/>
          </a:p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Resiliencia: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de 60 s, botón Reintentar y modo mock de respaldo.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32520" y="2148840"/>
            <a:ext cx="2331720" cy="3520440"/>
          </a:xfrm>
          <a:prstGeom prst="roundRect">
            <a:avLst>
              <a:gd name="adj" fmla="val 5490"/>
            </a:avLst>
          </a:prstGeom>
          <a:solidFill>
            <a:srgbClr val="0E0E12"/>
          </a:solidFill>
          <a:ln w="15875">
            <a:solidFill>
              <a:srgbClr val="5B8CF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642348" y="224028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/>
        </p:spPr>
      </p:sp>
      <p:sp>
        <p:nvSpPr>
          <p:cNvPr id="13" name="Text 11"/>
          <p:cNvSpPr/>
          <p:nvPr/>
        </p:nvSpPr>
        <p:spPr>
          <a:xfrm>
            <a:off x="8732520" y="34061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05672" y="377190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Conversación con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 de lugar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41080" y="57241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ChatScreen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· FEATURE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Enrutamiento peatonal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camino más corto se calcula en el dispositivo sobre un grafo del campus.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04288"/>
            <a:ext cx="54864" cy="320954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3134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743200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del campus:  </a:t>
            </a:r>
            <a:pPr algn="l" marL="228600" indent="-228600">
              <a:lnSpc>
                <a:spcPct val="15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nodos y aristas de caminos (rutas-caminos.json).</a:t>
            </a:r>
            <a:endParaRPr lang="en-US" sz="1200" dirty="0"/>
          </a:p>
          <a:p>
            <a:pPr algn="l" indent="0" marL="0">
              <a:lnSpc>
                <a:spcPct val="15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Dijkstra:  </a:t>
            </a:r>
            <a:pPr algn="l" marL="228600" indent="-228600">
              <a:lnSpc>
                <a:spcPct val="15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pathfinder.ts calcula el camino mínimo origen→destino.</a:t>
            </a:r>
            <a:endParaRPr lang="en-US" sz="1200" dirty="0"/>
          </a:p>
          <a:p>
            <a:pPr algn="l" indent="0" marL="0">
              <a:lnSpc>
                <a:spcPct val="15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Distancia real:  </a:t>
            </a:r>
            <a:pPr algn="l" marL="228600" indent="-228600">
              <a:lnSpc>
                <a:spcPct val="15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 de tramos con fórmula de Haversine.</a:t>
            </a:r>
            <a:endParaRPr lang="en-US" sz="1200" dirty="0"/>
          </a:p>
          <a:p>
            <a:pPr algn="l" indent="0" marL="0">
              <a:lnSpc>
                <a:spcPct val="15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 peatonales:  </a:t>
            </a:r>
            <a:pPr algn="l" marL="228600" indent="-228600">
              <a:lnSpc>
                <a:spcPct val="15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 la entrada del lugar, no su centro.</a:t>
            </a:r>
            <a:endParaRPr lang="en-US" sz="1200" dirty="0"/>
          </a:p>
          <a:p>
            <a:pPr algn="l" indent="0" marL="0">
              <a:lnSpc>
                <a:spcPct val="15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cliente:  </a:t>
            </a:r>
            <a:pPr algn="l" marL="228600" indent="-228600">
              <a:lnSpc>
                <a:spcPct val="15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llamada al backend → respuesta instantánea.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37960" y="260604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3154680"/>
            <a:ext cx="0" cy="228600"/>
          </a:xfrm>
          <a:prstGeom prst="line">
            <a:avLst/>
          </a:prstGeom>
          <a:noFill/>
          <a:ln w="15875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37960" y="338328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383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3931920"/>
            <a:ext cx="0" cy="228600"/>
          </a:xfrm>
          <a:prstGeom prst="line">
            <a:avLst/>
          </a:prstGeom>
          <a:noFill/>
          <a:ln w="15875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37960" y="416052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4709160"/>
            <a:ext cx="0" cy="228600"/>
          </a:xfrm>
          <a:prstGeom prst="line">
            <a:avLst/>
          </a:prstGeom>
          <a:noFill/>
          <a:ln w="15875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537960" y="49377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937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Polyline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· FEATURE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e inicio de sesión gestionados por Supabase Auth desde el cliente.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email/contraseña con verificación por correo.</a:t>
            </a:r>
            <a:endParaRPr lang="en-US" sz="1300" dirty="0"/>
          </a:p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dedicado: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→ Onboarding → Login / Register → EmailSent.</a:t>
            </a:r>
            <a:endParaRPr lang="en-US" sz="1300" dirty="0"/>
          </a:p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persistida: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permanece autenticado entre aperturas.</a:t>
            </a:r>
            <a:endParaRPr lang="en-US" sz="1300" dirty="0"/>
          </a:p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editable: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correo y preferencias de tema.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32520" y="2148840"/>
            <a:ext cx="2331720" cy="3520440"/>
          </a:xfrm>
          <a:prstGeom prst="roundRect">
            <a:avLst>
              <a:gd name="adj" fmla="val 5490"/>
            </a:avLst>
          </a:prstGeom>
          <a:solidFill>
            <a:srgbClr val="0E0E12"/>
          </a:solidFill>
          <a:ln w="15875">
            <a:solidFill>
              <a:srgbClr val="5B8CF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642348" y="224028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/>
        </p:spPr>
      </p:sp>
      <p:sp>
        <p:nvSpPr>
          <p:cNvPr id="13" name="Text 11"/>
          <p:cNvSpPr/>
          <p:nvPr/>
        </p:nvSpPr>
        <p:spPr>
          <a:xfrm>
            <a:off x="8732520" y="34061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05672" y="377190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 de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/ Login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41080" y="57241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AuthStack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con el backend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HTTP traduce el contrato del backend al modelo del frontend.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78608"/>
            <a:ext cx="54864" cy="115214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5877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useChat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9536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Orquesta el envío y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respuesta en la UI.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3154680"/>
            <a:ext cx="365760" cy="0"/>
          </a:xfrm>
          <a:prstGeom prst="line">
            <a:avLst/>
          </a:prstGeom>
          <a:noFill/>
          <a:ln w="19050">
            <a:solidFill>
              <a:srgbClr val="9AA0A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20440" y="24688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2578608"/>
            <a:ext cx="54864" cy="115214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17" name="Text 15"/>
          <p:cNvSpPr/>
          <p:nvPr/>
        </p:nvSpPr>
        <p:spPr>
          <a:xfrm>
            <a:off x="3721608" y="25877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39896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sendChatQuery():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/api/chat.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154680"/>
            <a:ext cx="365760" cy="0"/>
          </a:xfrm>
          <a:prstGeom prst="line">
            <a:avLst/>
          </a:prstGeom>
          <a:noFill/>
          <a:ln w="19050">
            <a:solidFill>
              <a:srgbClr val="9AA0A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0" y="24688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578608"/>
            <a:ext cx="54864" cy="115214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22" name="Text 20"/>
          <p:cNvSpPr/>
          <p:nvPr/>
        </p:nvSpPr>
        <p:spPr>
          <a:xfrm>
            <a:off x="6601968" y="25877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apiClient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0256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+ timeout 60 s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(AbortController).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15400" y="3154680"/>
            <a:ext cx="365760" cy="0"/>
          </a:xfrm>
          <a:prstGeom prst="line">
            <a:avLst/>
          </a:prstGeom>
          <a:noFill/>
          <a:ln w="19050">
            <a:solidFill>
              <a:srgbClr val="9AA0A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281160" y="24688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6171C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1160" y="2578608"/>
            <a:ext cx="54864" cy="1152144"/>
          </a:xfrm>
          <a:prstGeom prst="rect">
            <a:avLst/>
          </a:prstGeom>
          <a:solidFill>
            <a:srgbClr val="F5B94D"/>
          </a:solidFill>
          <a:ln/>
        </p:spPr>
      </p:sp>
      <p:sp>
        <p:nvSpPr>
          <p:cNvPr id="27" name="Text 25"/>
          <p:cNvSpPr/>
          <p:nvPr/>
        </p:nvSpPr>
        <p:spPr>
          <a:xfrm>
            <a:off x="9482328" y="25877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00616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· FastAPI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/api/chat.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343400"/>
            <a:ext cx="10911535" cy="1325880"/>
          </a:xfrm>
          <a:prstGeom prst="roundRect">
            <a:avLst>
              <a:gd name="adj" fmla="val 5517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453128"/>
            <a:ext cx="54864" cy="110642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" y="4462272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del contrato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4846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(snake_case):  { answer, locations, draw_route, destination }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840480" y="5193792"/>
            <a:ext cx="640080" cy="0"/>
          </a:xfrm>
          <a:prstGeom prst="line">
            <a:avLst/>
          </a:prstGeom>
          <a:noFill/>
          <a:ln w="19050">
            <a:solidFill>
              <a:srgbClr val="5B8CFF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914400" y="5257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(camelCase):  { answer, locations, drawRoute, destination }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 de la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Espacios reservados para las capturas reales de la aplicación en el dispositivo.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1965960" cy="3246120"/>
          </a:xfrm>
          <a:prstGeom prst="roundRect">
            <a:avLst>
              <a:gd name="adj" fmla="val 6512"/>
            </a:avLst>
          </a:prstGeom>
          <a:solidFill>
            <a:srgbClr val="0E0E12"/>
          </a:solidFill>
          <a:ln w="15875">
            <a:solidFill>
              <a:srgbClr val="5B8CF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67028" y="228600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147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3680460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+ marcadores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54955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MapScreen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76474" y="2194560"/>
            <a:ext cx="1965960" cy="3246120"/>
          </a:xfrm>
          <a:prstGeom prst="roundRect">
            <a:avLst>
              <a:gd name="adj" fmla="val 6512"/>
            </a:avLst>
          </a:prstGeom>
          <a:solidFill>
            <a:srgbClr val="0E0E12"/>
          </a:solidFill>
          <a:ln w="15875">
            <a:solidFill>
              <a:srgbClr val="5B8CFF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603422" y="228600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/>
        </p:spPr>
      </p:sp>
      <p:sp>
        <p:nvSpPr>
          <p:cNvPr id="17" name="Text 15"/>
          <p:cNvSpPr/>
          <p:nvPr/>
        </p:nvSpPr>
        <p:spPr>
          <a:xfrm>
            <a:off x="2876474" y="33147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49626" y="3680460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de lugar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85034" y="54955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MapPlaceInfoCard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12868" y="2194560"/>
            <a:ext cx="1965960" cy="3246120"/>
          </a:xfrm>
          <a:prstGeom prst="roundRect">
            <a:avLst>
              <a:gd name="adj" fmla="val 6512"/>
            </a:avLst>
          </a:prstGeom>
          <a:solidFill>
            <a:srgbClr val="0E0E12"/>
          </a:solidFill>
          <a:ln w="15875">
            <a:solidFill>
              <a:srgbClr val="5B8CF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839816" y="228600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/>
        </p:spPr>
      </p:sp>
      <p:sp>
        <p:nvSpPr>
          <p:cNvPr id="22" name="Text 20"/>
          <p:cNvSpPr/>
          <p:nvPr/>
        </p:nvSpPr>
        <p:spPr>
          <a:xfrm>
            <a:off x="5112868" y="33147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86020" y="3680460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asistente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1428" y="54955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ChatScreen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49261" y="2194560"/>
            <a:ext cx="1965960" cy="3246120"/>
          </a:xfrm>
          <a:prstGeom prst="roundRect">
            <a:avLst>
              <a:gd name="adj" fmla="val 6512"/>
            </a:avLst>
          </a:prstGeom>
          <a:solidFill>
            <a:srgbClr val="0E0E12"/>
          </a:solidFill>
          <a:ln w="15875">
            <a:solidFill>
              <a:srgbClr val="5B8CFF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8076209" y="228600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/>
        </p:spPr>
      </p:sp>
      <p:sp>
        <p:nvSpPr>
          <p:cNvPr id="27" name="Text 25"/>
          <p:cNvSpPr/>
          <p:nvPr/>
        </p:nvSpPr>
        <p:spPr>
          <a:xfrm>
            <a:off x="7349261" y="33147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22413" y="3680460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trazada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57821" y="54955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MapRouteInfoCard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85655" y="2194560"/>
            <a:ext cx="1965960" cy="3246120"/>
          </a:xfrm>
          <a:prstGeom prst="roundRect">
            <a:avLst>
              <a:gd name="adj" fmla="val 6512"/>
            </a:avLst>
          </a:prstGeom>
          <a:solidFill>
            <a:srgbClr val="0E0E12"/>
          </a:solidFill>
          <a:ln w="15875">
            <a:solidFill>
              <a:srgbClr val="5B8CFF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0312603" y="228600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/>
        </p:spPr>
      </p:sp>
      <p:sp>
        <p:nvSpPr>
          <p:cNvPr id="32" name="Text 30"/>
          <p:cNvSpPr/>
          <p:nvPr/>
        </p:nvSpPr>
        <p:spPr>
          <a:xfrm>
            <a:off x="9585655" y="33147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58807" y="3680460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/ Perfil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494215" y="54955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AuthStack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1D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77240" y="2651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RAG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77240" y="4041648"/>
            <a:ext cx="822960" cy="5486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224528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Gemini + pgvector · recuperación semántica sobre el conocimiento oficial del campus.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general del backend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FastAPI que implementa RAG: recupera contexto verificado y genera respuestas con un LLM.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(Retrieval-Augmented Generation):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LLM responde solo con contexto recuperado del corpus.</a:t>
            </a:r>
            <a:endParaRPr lang="en-US" sz="1300" dirty="0"/>
          </a:p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Proveedores intercambiables: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(tests, offline) o real (Gemini + pgvector) tras una interfaz.</a:t>
            </a:r>
            <a:endParaRPr lang="en-US" sz="1300" dirty="0"/>
          </a:p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mínimo: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/health y POST /api/chat; errores de proveedor → HTTP 503.</a:t>
            </a:r>
            <a:endParaRPr lang="en-US" sz="1300" dirty="0"/>
          </a:p>
          <a:p>
            <a:pPr algn="l" indent="0" marL="0">
              <a:lnSpc>
                <a:spcPct val="155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oficial:  </a:t>
            </a:r>
            <a:pPr algn="l" marL="228600" indent="-2286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37+ lugares y 41 documentos derivados de un doc verificado del campus.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2148840"/>
            <a:ext cx="4830775" cy="3566160"/>
          </a:xfrm>
          <a:prstGeom prst="roundRect">
            <a:avLst>
              <a:gd name="adj" fmla="val 2051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2258568"/>
            <a:ext cx="54864" cy="334670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13" name="Text 11"/>
          <p:cNvSpPr/>
          <p:nvPr/>
        </p:nvSpPr>
        <p:spPr>
          <a:xfrm>
            <a:off x="6922008" y="2267712"/>
            <a:ext cx="4465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de diseño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269748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7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antes que implementaciones</a:t>
            </a:r>
            <a:endParaRPr lang="en-US" sz="1200" dirty="0"/>
          </a:p>
          <a:p>
            <a:pPr algn="l" marL="228600" indent="-228600">
              <a:lnSpc>
                <a:spcPct val="17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Anclaje: nunca inventar datos del campus</a:t>
            </a:r>
            <a:endParaRPr lang="en-US" sz="1200" dirty="0"/>
          </a:p>
          <a:p>
            <a:pPr algn="l" marL="228600" indent="-228600">
              <a:lnSpc>
                <a:spcPct val="17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Degradación elegante (503, no 500)</a:t>
            </a:r>
            <a:endParaRPr lang="en-US" sz="1200" dirty="0"/>
          </a:p>
          <a:p>
            <a:pPr algn="l" marL="228600" indent="-228600">
              <a:lnSpc>
                <a:spcPct val="17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herméticos (mock, sin red)</a:t>
            </a:r>
            <a:endParaRPr lang="en-US" sz="1200" dirty="0"/>
          </a:p>
          <a:p>
            <a:pPr algn="l" marL="228600" indent="-228600">
              <a:lnSpc>
                <a:spcPct val="17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Reproducible: fuente única de la verdad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en capas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petición HTTP al motor RAG y sus proveedores, cada capa con una única responsabilidad.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86000"/>
            <a:ext cx="54864" cy="475488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1945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194560"/>
            <a:ext cx="7985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main.py · api/chat.py — enrutado FastAPI, CORS, manejo de errores 503.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944368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35808"/>
            <a:ext cx="54864" cy="4754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9443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944368"/>
            <a:ext cx="7985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schemas/chat.py — contrato Pydantic: ChatRequest / ChatResponse.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694176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85616"/>
            <a:ext cx="54864" cy="475488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69417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RAG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694176"/>
            <a:ext cx="7985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rag/engine.py — orquesta guardrails → retrieve → places → LLM → compose.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443984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535424"/>
            <a:ext cx="54864" cy="475488"/>
          </a:xfrm>
          <a:prstGeom prst="rect">
            <a:avLst/>
          </a:prstGeom>
          <a:solidFill>
            <a:srgbClr val="F5B94D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44398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B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4443984"/>
            <a:ext cx="7985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rag/providers.py — elige mock vs real (Gemini, PgVectorRetriever).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193792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6171C"/>
          </a:solidFill>
          <a:ln w="12700">
            <a:solidFill>
              <a:srgbClr val="2A2C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285232"/>
            <a:ext cx="54864" cy="47548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1937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Conocimiento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5193792"/>
            <a:ext cx="7985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knowledge/ — corpus.py, places.py y fuentes (unmsm_info.md).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clases · motor RAG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motor depende de interfaces (Protocol), no de implementaciones concretas.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17720" y="2103120"/>
            <a:ext cx="2971800" cy="1819656"/>
          </a:xfrm>
          <a:prstGeom prst="roundRect">
            <a:avLst>
              <a:gd name="adj" fmla="val 2513"/>
            </a:avLst>
          </a:prstGeom>
          <a:solidFill>
            <a:srgbClr val="16171C"/>
          </a:solidFill>
          <a:ln w="15875">
            <a:solidFill>
              <a:srgbClr val="2DD4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103120"/>
            <a:ext cx="2971800" cy="384048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RAGEngine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2487168"/>
            <a:ext cx="2971800" cy="0"/>
          </a:xfrm>
          <a:prstGeom prst="line">
            <a:avLst/>
          </a:prstGeom>
          <a:noFill/>
          <a:ln w="12700">
            <a:solidFill>
              <a:srgbClr val="2DD4A7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4727448" y="2523744"/>
            <a:ext cx="278892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retriever: SupportsRetrieve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llm: LLMProvider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top_k, score_threshold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3204972"/>
            <a:ext cx="2971800" cy="0"/>
          </a:xfrm>
          <a:prstGeom prst="line">
            <a:avLst/>
          </a:prstGeom>
          <a:noFill/>
          <a:ln w="12700">
            <a:solidFill>
              <a:srgbClr val="2DD4A7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727448" y="3241548"/>
            <a:ext cx="278892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answer(query): ChatResponse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_detect_places()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_compose()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2743200" cy="653796"/>
          </a:xfrm>
          <a:prstGeom prst="roundRect">
            <a:avLst>
              <a:gd name="adj" fmla="val 6993"/>
            </a:avLst>
          </a:prstGeom>
          <a:solidFill>
            <a:srgbClr val="16171C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572000"/>
            <a:ext cx="2743200" cy="384048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994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«Protocol»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40080" y="47183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SupportsRetrieve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956048"/>
            <a:ext cx="274320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749808" y="4992624"/>
            <a:ext cx="2560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retrieve(q, top_k)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549640" y="4572000"/>
            <a:ext cx="2743200" cy="653796"/>
          </a:xfrm>
          <a:prstGeom prst="roundRect">
            <a:avLst>
              <a:gd name="adj" fmla="val 6993"/>
            </a:avLst>
          </a:prstGeom>
          <a:solidFill>
            <a:srgbClr val="16171C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9640" y="4572000"/>
            <a:ext cx="2743200" cy="384048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25" name="Text 23"/>
          <p:cNvSpPr/>
          <p:nvPr/>
        </p:nvSpPr>
        <p:spPr>
          <a:xfrm>
            <a:off x="8549640" y="45994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«Protocol»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549640" y="47183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LLMProvider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549640" y="4956048"/>
            <a:ext cx="274320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8659368" y="4992624"/>
            <a:ext cx="2560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generate(q, ctx)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58064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16171C"/>
          </a:solidFill>
          <a:ln w="15875">
            <a:solidFill>
              <a:srgbClr val="2DD4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806440"/>
            <a:ext cx="2743200" cy="384048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806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PgVectorRetriever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063240" y="5806440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16171C"/>
          </a:solidFill>
          <a:ln w="15875">
            <a:solidFill>
              <a:srgbClr val="9AA0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63240" y="5806440"/>
            <a:ext cx="2194560" cy="384048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34" name="Text 32"/>
          <p:cNvSpPr/>
          <p:nvPr/>
        </p:nvSpPr>
        <p:spPr>
          <a:xfrm>
            <a:off x="3063240" y="5806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 (mock)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549640" y="5806440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16171C"/>
          </a:solidFill>
          <a:ln w="15875">
            <a:solidFill>
              <a:srgbClr val="2DD4A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49640" y="5806440"/>
            <a:ext cx="1828800" cy="384048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37" name="Text 35"/>
          <p:cNvSpPr/>
          <p:nvPr/>
        </p:nvSpPr>
        <p:spPr>
          <a:xfrm>
            <a:off x="8549640" y="5806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GeminiLLM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469880" y="5806440"/>
            <a:ext cx="1691640" cy="384048"/>
          </a:xfrm>
          <a:prstGeom prst="roundRect">
            <a:avLst>
              <a:gd name="adj" fmla="val 11905"/>
            </a:avLst>
          </a:prstGeom>
          <a:solidFill>
            <a:srgbClr val="16171C"/>
          </a:solidFill>
          <a:ln w="15875">
            <a:solidFill>
              <a:srgbClr val="9AA0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69880" y="5806440"/>
            <a:ext cx="1691640" cy="384048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40" name="Text 38"/>
          <p:cNvSpPr/>
          <p:nvPr/>
        </p:nvSpPr>
        <p:spPr>
          <a:xfrm>
            <a:off x="10469880" y="58064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TemplateLLM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120640" y="4572000"/>
            <a:ext cx="-2926080" cy="-1783080"/>
          </a:xfrm>
          <a:prstGeom prst="line">
            <a:avLst/>
          </a:prstGeom>
          <a:noFill/>
          <a:ln w="15875">
            <a:solidFill>
              <a:srgbClr val="2DD4A7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40880" y="4572000"/>
            <a:ext cx="2468880" cy="-1783080"/>
          </a:xfrm>
          <a:prstGeom prst="line">
            <a:avLst/>
          </a:prstGeom>
          <a:noFill/>
          <a:ln w="15875">
            <a:solidFill>
              <a:srgbClr val="2DD4A7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554480" y="5806440"/>
            <a:ext cx="0" cy="-411480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114800" y="5806440"/>
            <a:ext cx="-2011680" cy="-411480"/>
          </a:xfrm>
          <a:prstGeom prst="line">
            <a:avLst/>
          </a:prstGeom>
          <a:noFill/>
          <a:ln w="12700">
            <a:solidFill>
              <a:srgbClr val="9AA0AC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326880" y="5806440"/>
            <a:ext cx="365760" cy="-411480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1155680" y="5806440"/>
            <a:ext cx="-914400" cy="-411480"/>
          </a:xfrm>
          <a:prstGeom prst="line">
            <a:avLst/>
          </a:prstGeom>
          <a:noFill/>
          <a:ln w="12700">
            <a:solidFill>
              <a:srgbClr val="9AA0AC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2468880" y="35661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(top-k coseno)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132320" y="35661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(generación)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RAG de una consulta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engine.answer(query) recorre cinco etapas antes de componer la respuesta.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6171C"/>
          </a:solidFill>
          <a:ln w="15875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07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5935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¿dominio UNMSM?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06040" y="3383280"/>
            <a:ext cx="270434" cy="0"/>
          </a:xfrm>
          <a:prstGeom prst="line">
            <a:avLst/>
          </a:prstGeom>
          <a:noFill/>
          <a:ln w="19050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876474" y="26974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6171C"/>
          </a:solidFill>
          <a:ln w="15875">
            <a:solidFill>
              <a:srgbClr val="2DD4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3634" y="2807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3634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13634" y="35935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por coseno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2434" y="3383280"/>
            <a:ext cx="270434" cy="0"/>
          </a:xfrm>
          <a:prstGeom prst="line">
            <a:avLst/>
          </a:prstGeom>
          <a:noFill/>
          <a:ln w="19050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12868" y="26974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6171C"/>
          </a:solidFill>
          <a:ln w="15875">
            <a:solidFill>
              <a:srgbClr val="5B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0028" y="2807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0028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lugares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50028" y="35935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+ top doc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78828" y="3383280"/>
            <a:ext cx="270434" cy="0"/>
          </a:xfrm>
          <a:prstGeom prst="line">
            <a:avLst/>
          </a:prstGeom>
          <a:noFill/>
          <a:ln w="19050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49261" y="26974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6171C"/>
          </a:solidFill>
          <a:ln w="15875">
            <a:solidFill>
              <a:srgbClr val="F5B9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86421" y="2807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B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86421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86421" y="35935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genera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315221" y="3383280"/>
            <a:ext cx="270434" cy="0"/>
          </a:xfrm>
          <a:prstGeom prst="line">
            <a:avLst/>
          </a:prstGeom>
          <a:noFill/>
          <a:ln w="19050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85655" y="26974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6171C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22815" y="2807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22815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722815" y="35935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+ locations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4480560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4590288"/>
            <a:ext cx="54864" cy="96926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" y="4599432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Salvaguardas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" y="49834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guardrails rechaza → mensaje fuera de alcance.   Si no hay contexto ni lugares → "no tengo esa información oficial".   El LLM solo ve el contexto recuperado (no responde de memoria).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Ingesta y embeddings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offline que convierte el documento oficial en vectores consultables.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6171C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807208"/>
            <a:ext cx="54864" cy="133502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8163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unmsm_info.md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22783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oficial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 del campus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3474720"/>
            <a:ext cx="284378" cy="0"/>
          </a:xfrm>
          <a:prstGeom prst="line">
            <a:avLst/>
          </a:prstGeom>
          <a:noFill/>
          <a:ln w="19050">
            <a:solidFill>
              <a:srgbClr val="9AA0A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39058" y="269748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39058" y="2807208"/>
            <a:ext cx="54864" cy="133502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3640226" y="28163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+ split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40226" y="322783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Troceado con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solapamiento (chunks)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53658" y="3474720"/>
            <a:ext cx="284378" cy="0"/>
          </a:xfrm>
          <a:prstGeom prst="line">
            <a:avLst/>
          </a:prstGeom>
          <a:noFill/>
          <a:ln w="19050">
            <a:solidFill>
              <a:srgbClr val="9AA0A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38037" y="269748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6171C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8037" y="2807208"/>
            <a:ext cx="54864" cy="1335024"/>
          </a:xfrm>
          <a:prstGeom prst="rect">
            <a:avLst/>
          </a:prstGeom>
          <a:solidFill>
            <a:srgbClr val="F5B94D"/>
          </a:solidFill>
          <a:ln/>
        </p:spPr>
      </p:sp>
      <p:sp>
        <p:nvSpPr>
          <p:cNvPr id="22" name="Text 20"/>
          <p:cNvSpPr/>
          <p:nvPr/>
        </p:nvSpPr>
        <p:spPr>
          <a:xfrm>
            <a:off x="6439205" y="28163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embed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39205" y="322783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gemini-embedding-001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 dims · normalizado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52637" y="3474720"/>
            <a:ext cx="284378" cy="0"/>
          </a:xfrm>
          <a:prstGeom prst="line">
            <a:avLst/>
          </a:prstGeom>
          <a:noFill/>
          <a:ln w="19050">
            <a:solidFill>
              <a:srgbClr val="9AA0A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37015" y="269748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37015" y="2807208"/>
            <a:ext cx="54864" cy="133502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27" name="Text 25"/>
          <p:cNvSpPr/>
          <p:nvPr/>
        </p:nvSpPr>
        <p:spPr>
          <a:xfrm>
            <a:off x="9238183" y="28163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38183" y="322783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documents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índice HNSW coseno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-m app.rag.ingest_pgvector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0749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Asimetría de tareas: los documentos se embeben como RETRIEVAL_DOCUMENT y la consulta como RETRIEVAL_QUERY para mejor recuperación.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· Supabase pgvector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con la extensión vector: búsqueda por similitud coseno vía función RPC.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5486400" cy="3474720"/>
          </a:xfrm>
          <a:prstGeom prst="roundRect">
            <a:avLst>
              <a:gd name="adj" fmla="val 2105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04288"/>
            <a:ext cx="54864" cy="325526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3134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 (db/schema.sql)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96112" y="269748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vector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documents (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id bigint,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content text,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metadata jsonb  → { place_id, … },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embedding vector(768) )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HNSW · vector_cosine_ops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match_documents(query, k)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similarity = 1 − distancia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242255" cy="3474720"/>
          </a:xfrm>
          <a:prstGeom prst="roundRect">
            <a:avLst>
              <a:gd name="adj" fmla="val 1579"/>
            </a:avLst>
          </a:prstGeom>
          <a:solidFill>
            <a:srgbClr val="0E0E12"/>
          </a:solidFill>
          <a:ln w="12700">
            <a:solidFill>
              <a:srgbClr val="2DD4A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242255" cy="310896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55664" y="2304288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7" name="Shape 15"/>
          <p:cNvSpPr/>
          <p:nvPr/>
        </p:nvSpPr>
        <p:spPr>
          <a:xfrm>
            <a:off x="6638544" y="2304288"/>
            <a:ext cx="91440" cy="91440"/>
          </a:xfrm>
          <a:prstGeom prst="ellipse">
            <a:avLst/>
          </a:prstGeom>
          <a:solidFill>
            <a:srgbClr val="F5B94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21424" y="2304288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9" name="Shape 17"/>
          <p:cNvSpPr/>
          <p:nvPr/>
        </p:nvSpPr>
        <p:spPr>
          <a:xfrm>
            <a:off x="7086600" y="2258568"/>
            <a:ext cx="4236415" cy="182880"/>
          </a:xfrm>
          <a:prstGeom prst="roundRect">
            <a:avLst>
              <a:gd name="adj" fmla="val 50000"/>
            </a:avLst>
          </a:prstGeom>
          <a:solidFill>
            <a:srgbClr val="0A0A0C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2258568"/>
            <a:ext cx="4144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supabase.com/dashboard · Table editor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09360" y="2505456"/>
            <a:ext cx="5242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◱  CAPTURA · SUPABASE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3840480"/>
            <a:ext cx="45107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documents poblada (48 fragmentos)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función match_documents en el editor SQL.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LLM, guardrails e intención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genera; las reglas acotan el alcance y detectan la intención de navegar.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3332378" cy="3429000"/>
          </a:xfrm>
          <a:prstGeom prst="roundRect">
            <a:avLst>
              <a:gd name="adj" fmla="val 2195"/>
            </a:avLst>
          </a:prstGeom>
          <a:solidFill>
            <a:srgbClr val="16171C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04288"/>
            <a:ext cx="54864" cy="3209544"/>
          </a:xfrm>
          <a:prstGeom prst="rect">
            <a:avLst/>
          </a:prstGeom>
          <a:solidFill>
            <a:srgbClr val="F5B94D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313432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· Gemini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2743200"/>
            <a:ext cx="292089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gemini-2.5-flash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anclado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0.2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usa el contexto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máx. 600 tokens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29658" y="2194560"/>
            <a:ext cx="3332378" cy="3429000"/>
          </a:xfrm>
          <a:prstGeom prst="roundRect">
            <a:avLst>
              <a:gd name="adj" fmla="val 2195"/>
            </a:avLst>
          </a:prstGeom>
          <a:solidFill>
            <a:srgbClr val="16171C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9658" y="2304288"/>
            <a:ext cx="54864" cy="320954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6" name="Text 14"/>
          <p:cNvSpPr/>
          <p:nvPr/>
        </p:nvSpPr>
        <p:spPr>
          <a:xfrm>
            <a:off x="4630826" y="2313432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58258" y="2743200"/>
            <a:ext cx="292089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de dominio UNMSM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coincidencia por palabra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declina fuera de alcance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 claro al usuario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19237" y="2194560"/>
            <a:ext cx="3332378" cy="3429000"/>
          </a:xfrm>
          <a:prstGeom prst="roundRect">
            <a:avLst>
              <a:gd name="adj" fmla="val 2195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19237" y="2304288"/>
            <a:ext cx="54864" cy="320954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8420405" y="2313432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Intención de ruta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47837" y="2743200"/>
            <a:ext cx="292089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wants_route(query)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"cómo llego", "llévame"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 draw_route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devuelve destination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conocimiento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para mantener el corpus al día con el mapa — con revisión humana antes de subir.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16171C"/>
          </a:solidFill>
          <a:ln w="15875">
            <a:solidFill>
              <a:srgbClr val="F5B9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620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Places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9808" y="344728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fetch_places · datos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reales (grounding)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3429000"/>
            <a:ext cx="270434" cy="0"/>
          </a:xfrm>
          <a:prstGeom prst="line">
            <a:avLst/>
          </a:prstGeom>
          <a:noFill/>
          <a:ln w="19050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76474" y="26974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16171C"/>
          </a:solidFill>
          <a:ln w="15875">
            <a:solidFill>
              <a:srgbClr val="5B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3634" y="28620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build_unmsm_ts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86202" y="344728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 lugares a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2434" y="3429000"/>
            <a:ext cx="270434" cy="0"/>
          </a:xfrm>
          <a:prstGeom prst="line">
            <a:avLst/>
          </a:prstGeom>
          <a:noFill/>
          <a:ln w="19050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12868" y="26974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16171C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0028" y="28620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find_gaps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22596" y="344728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lugares en el mapa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ausentes del corpus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78828" y="3429000"/>
            <a:ext cx="270434" cy="0"/>
          </a:xfrm>
          <a:prstGeom prst="line">
            <a:avLst/>
          </a:prstGeom>
          <a:noFill/>
          <a:ln w="19050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49261" y="26974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16171C"/>
          </a:solidFill>
          <a:ln w="15875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86421" y="28620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humana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58989" y="344728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verifica la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veracidad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315221" y="3429000"/>
            <a:ext cx="270434" cy="0"/>
          </a:xfrm>
          <a:prstGeom prst="line">
            <a:avLst/>
          </a:prstGeom>
          <a:noFill/>
          <a:ln w="19050">
            <a:solidFill>
              <a:srgbClr val="3B3E4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585655" y="26974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16171C"/>
          </a:solidFill>
          <a:ln w="15875">
            <a:solidFill>
              <a:srgbClr val="2DD4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22815" y="28620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upload_entries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95383" y="344728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inserta / actualiza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pgvector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6177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Principio: el LLM redacta borradores, pero un humano verifica antes de que entren al corpus. Nada de datos inventados en producción.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de la API · /api/chat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endpoint simple y estable; el frontend solo necesita enviar la consulta.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04288"/>
            <a:ext cx="54864" cy="325526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3134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Petición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96112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/api/chat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3063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"query": "¿cómo llego al rectorado?"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" y="4160520"/>
            <a:ext cx="4864608" cy="0"/>
          </a:xfrm>
          <a:prstGeom prst="line">
            <a:avLst/>
          </a:prstGeom>
          <a:noFill/>
          <a:ln w="12700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896112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/health → { status, service, version 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" y="4800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de proveedor → HTTP 503 (Reintentar)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194560"/>
            <a:ext cx="5242255" cy="3474720"/>
          </a:xfrm>
          <a:prstGeom prst="roundRect">
            <a:avLst>
              <a:gd name="adj" fmla="val 2105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304288"/>
            <a:ext cx="54864" cy="325526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20" name="Text 18"/>
          <p:cNvSpPr/>
          <p:nvPr/>
        </p:nvSpPr>
        <p:spPr>
          <a:xfrm>
            <a:off x="6510528" y="2313432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37960" y="269748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"answer": "El Rectorado… trazo la ruta.",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"locations": [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{ "id": "rectorado",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"name": "Rectorado",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"schedule": "Lun–Vie 8:00–16:00" } ],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"draw_route": true,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"destination": { "latitude": -12.0566,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"longitude": -77.0862 }</a:t>
            </a:r>
            <a:endParaRPr lang="en-US" sz="1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en Render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como código: render.yaml describe el servicio y se despliega solo.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04288"/>
            <a:ext cx="54864" cy="325526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3134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render.yaml (blueprint)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74320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rootDir:  </a:t>
            </a:r>
            <a:pPr algn="l" marL="228600" indent="-228600">
              <a:lnSpc>
                <a:spcPct val="14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 (monorepo).</a:t>
            </a:r>
            <a:endParaRPr lang="en-US" sz="1150" dirty="0"/>
          </a:p>
          <a:p>
            <a:pPr algn="l" indent="0" marL="0">
              <a:lnSpc>
                <a:spcPct val="14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  </a:t>
            </a:r>
            <a:pPr algn="l" marL="228600" indent="-228600">
              <a:lnSpc>
                <a:spcPct val="14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 core + LLM + pgvector.</a:t>
            </a:r>
            <a:endParaRPr lang="en-US" sz="1150" dirty="0"/>
          </a:p>
          <a:p>
            <a:pPr algn="l" indent="0" marL="0">
              <a:lnSpc>
                <a:spcPct val="14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start:  </a:t>
            </a:r>
            <a:pPr algn="l" marL="228600" indent="-228600">
              <a:lnSpc>
                <a:spcPct val="14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uvicorn app.main:app.</a:t>
            </a:r>
            <a:endParaRPr lang="en-US" sz="1150" dirty="0"/>
          </a:p>
          <a:p>
            <a:pPr algn="l" indent="0" marL="0">
              <a:lnSpc>
                <a:spcPct val="14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healthCheck:  </a:t>
            </a:r>
            <a:pPr algn="l" marL="228600" indent="-228600">
              <a:lnSpc>
                <a:spcPct val="14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/health.</a:t>
            </a:r>
            <a:endParaRPr lang="en-US" sz="1150" dirty="0"/>
          </a:p>
          <a:p>
            <a:pPr algn="l" indent="0" marL="0">
              <a:lnSpc>
                <a:spcPct val="14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autoDeploy:  </a:t>
            </a:r>
            <a:pPr algn="l" marL="228600" indent="-228600">
              <a:lnSpc>
                <a:spcPct val="14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push a main redepliega.</a:t>
            </a:r>
            <a:endParaRPr lang="en-US" sz="1150" dirty="0"/>
          </a:p>
          <a:p>
            <a:pPr algn="l" indent="0" marL="0">
              <a:lnSpc>
                <a:spcPct val="14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secretos:  </a:t>
            </a:r>
            <a:pPr algn="l" marL="228600" indent="-228600">
              <a:lnSpc>
                <a:spcPct val="14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LLM_API_KEY, SUPABASE_SERVICE_KEY (sync:false).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242255" cy="3474720"/>
          </a:xfrm>
          <a:prstGeom prst="roundRect">
            <a:avLst>
              <a:gd name="adj" fmla="val 1579"/>
            </a:avLst>
          </a:prstGeom>
          <a:solidFill>
            <a:srgbClr val="0E0E12"/>
          </a:solidFill>
          <a:ln w="12700">
            <a:solidFill>
              <a:srgbClr val="2DD4A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242255" cy="310896"/>
          </a:xfrm>
          <a:prstGeom prst="rect">
            <a:avLst/>
          </a:prstGeom>
          <a:solidFill>
            <a:srgbClr val="1D1F2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55664" y="2304288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7" name="Shape 15"/>
          <p:cNvSpPr/>
          <p:nvPr/>
        </p:nvSpPr>
        <p:spPr>
          <a:xfrm>
            <a:off x="6638544" y="2304288"/>
            <a:ext cx="91440" cy="91440"/>
          </a:xfrm>
          <a:prstGeom prst="ellipse">
            <a:avLst/>
          </a:prstGeom>
          <a:solidFill>
            <a:srgbClr val="F5B94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21424" y="2304288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9" name="Shape 17"/>
          <p:cNvSpPr/>
          <p:nvPr/>
        </p:nvSpPr>
        <p:spPr>
          <a:xfrm>
            <a:off x="7086600" y="2258568"/>
            <a:ext cx="4236415" cy="182880"/>
          </a:xfrm>
          <a:prstGeom prst="roundRect">
            <a:avLst>
              <a:gd name="adj" fmla="val 50000"/>
            </a:avLst>
          </a:prstGeom>
          <a:solidFill>
            <a:srgbClr val="0A0A0C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2258568"/>
            <a:ext cx="4144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dashboard.render.com · ondesanmarcos-backend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09360" y="2505456"/>
            <a:ext cx="5242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◱  CAPTURA · RENDER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3840480"/>
            <a:ext cx="45107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del servicio: estado "Live", logs del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y variables de entorno configuradas.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configuración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por variables de entorno; los secretos nunca viven en el repositorio.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3332378" cy="3429000"/>
          </a:xfrm>
          <a:prstGeom prst="roundRect">
            <a:avLst>
              <a:gd name="adj" fmla="val 2195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04288"/>
            <a:ext cx="54864" cy="320954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313432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2743200"/>
            <a:ext cx="292089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pydantic-settings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RAG_USE_MOCK (real/mock)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LLM_PROVIDER / LLM_MODEL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RAG_TOP_K, score_threshold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CORS_ORIGINS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29658" y="2194560"/>
            <a:ext cx="3332378" cy="3429000"/>
          </a:xfrm>
          <a:prstGeom prst="roundRect">
            <a:avLst>
              <a:gd name="adj" fmla="val 2195"/>
            </a:avLst>
          </a:prstGeom>
          <a:solidFill>
            <a:srgbClr val="16171C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9658" y="2304288"/>
            <a:ext cx="54864" cy="320954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6" name="Text 14"/>
          <p:cNvSpPr/>
          <p:nvPr/>
        </p:nvSpPr>
        <p:spPr>
          <a:xfrm>
            <a:off x="4630826" y="2313432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Secretos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58258" y="2743200"/>
            <a:ext cx="292089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en .gitignore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LLM_API_KEY (Gemini)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SUPABASE_SERVICE_KEY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en dashboard de Render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rotación ante exposición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19237" y="2194560"/>
            <a:ext cx="3332378" cy="3429000"/>
          </a:xfrm>
          <a:prstGeom prst="roundRect">
            <a:avLst>
              <a:gd name="adj" fmla="val 2195"/>
            </a:avLst>
          </a:prstGeom>
          <a:solidFill>
            <a:srgbClr val="16171C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19237" y="2304288"/>
            <a:ext cx="54864" cy="320954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8420405" y="2313432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47837" y="2743200"/>
            <a:ext cx="292089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herméticos (mock)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red en CI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503 en vez de 500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 reproducible</a:t>
            </a:r>
            <a:endParaRPr lang="en-US" sz="1150" dirty="0"/>
          </a:p>
          <a:p>
            <a:pPr marL="152400" indent="-1524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única de verdad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 w="25400">
            <a:solidFill>
              <a:srgbClr val="F5B9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12700">
            <a:solidFill>
              <a:srgbClr val="1D1F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14884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5B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en funcionamiento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75408" y="5120640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66848" y="51206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en vivo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44288" y="5120640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35728" y="51206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+ ruta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13168" y="5120640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1D1F26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04608" y="51206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F5B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funcional:  </a:t>
            </a:r>
            <a:pPr algn="l" marL="228600" indent="-228600">
              <a:lnSpc>
                <a:spcPct val="16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móvil + backend RAG desplegado y consumido de extremo a extremo.</a:t>
            </a:r>
            <a:endParaRPr lang="en-US" sz="1300" dirty="0"/>
          </a:p>
          <a:p>
            <a:pPr algn="l" indent="0" marL="0">
              <a:lnSpc>
                <a:spcPct val="160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confiables:  </a:t>
            </a:r>
            <a:pPr algn="l" marL="228600" indent="-228600">
              <a:lnSpc>
                <a:spcPct val="16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anclado al corpus oficial evita que el asistente invente datos.</a:t>
            </a:r>
            <a:endParaRPr lang="en-US" sz="1300" dirty="0"/>
          </a:p>
          <a:p>
            <a:pPr algn="l" indent="0" marL="0">
              <a:lnSpc>
                <a:spcPct val="160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Recuperación semántica:  </a:t>
            </a:r>
            <a:pPr algn="l" marL="228600" indent="-228600">
              <a:lnSpc>
                <a:spcPct val="16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encuentra por significado, no solo por palabras exactas.</a:t>
            </a:r>
            <a:endParaRPr lang="en-US" sz="1300" dirty="0"/>
          </a:p>
          <a:p>
            <a:pPr algn="l" indent="0" marL="0">
              <a:lnSpc>
                <a:spcPct val="160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limpia:  </a:t>
            </a:r>
            <a:pPr algn="l" marL="228600" indent="-228600">
              <a:lnSpc>
                <a:spcPct val="16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y proveedores permiten crecer sin reescribir el motor.</a:t>
            </a:r>
            <a:endParaRPr lang="en-US" sz="1300" dirty="0"/>
          </a:p>
          <a:p>
            <a:pPr algn="l" indent="0" marL="0">
              <a:lnSpc>
                <a:spcPct val="160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Reproducible:  </a:t>
            </a:r>
            <a:pPr algn="l" marL="228600" indent="-228600">
              <a:lnSpc>
                <a:spcPct val="16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A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como código y una única fuente de verdad del conocimiento.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35240" y="2148840"/>
            <a:ext cx="3916375" cy="3566160"/>
          </a:xfrm>
          <a:prstGeom prst="roundRect">
            <a:avLst>
              <a:gd name="adj" fmla="val 2051"/>
            </a:avLst>
          </a:prstGeom>
          <a:solidFill>
            <a:srgbClr val="16171C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5240" y="2258568"/>
            <a:ext cx="54864" cy="334670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7836408" y="2267712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Logros clave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0" y="2697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lugares del campus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0" y="3429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dims por embedding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0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proveedores (mock/real)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4892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que lo une todo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futuro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502920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35264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5227168" cy="1005840"/>
          </a:xfrm>
          <a:prstGeom prst="roundRect">
            <a:avLst>
              <a:gd name="adj" fmla="val 7273"/>
            </a:avLst>
          </a:prstGeom>
          <a:solidFill>
            <a:srgbClr val="16171C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58568"/>
            <a:ext cx="54864" cy="78638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26771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de rutas del chat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262432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la entrada peatonal real que ya conoce el frontend.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24448" y="2148840"/>
            <a:ext cx="5227168" cy="1005840"/>
          </a:xfrm>
          <a:prstGeom prst="roundRect">
            <a:avLst>
              <a:gd name="adj" fmla="val 7273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4448" y="2258568"/>
            <a:ext cx="54864" cy="78638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15" name="Text 13"/>
          <p:cNvSpPr/>
          <p:nvPr/>
        </p:nvSpPr>
        <p:spPr>
          <a:xfrm>
            <a:off x="6525616" y="226771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Afinar umbral de recuperación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43904" y="262432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Calibrar score_threshold para embeddings densos.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383280"/>
            <a:ext cx="5227168" cy="1005840"/>
          </a:xfrm>
          <a:prstGeom prst="roundRect">
            <a:avLst>
              <a:gd name="adj" fmla="val 7273"/>
            </a:avLst>
          </a:prstGeom>
          <a:solidFill>
            <a:srgbClr val="16171C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493008"/>
            <a:ext cx="54864" cy="786384"/>
          </a:xfrm>
          <a:prstGeom prst="rect">
            <a:avLst/>
          </a:prstGeom>
          <a:solidFill>
            <a:srgbClr val="2DD4A7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350215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semántico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" y="385876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bloquear consultas válidas antes de recuperar.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24448" y="3383280"/>
            <a:ext cx="5227168" cy="1005840"/>
          </a:xfrm>
          <a:prstGeom prst="roundRect">
            <a:avLst>
              <a:gd name="adj" fmla="val 7273"/>
            </a:avLst>
          </a:prstGeom>
          <a:solidFill>
            <a:srgbClr val="16171C"/>
          </a:solidFill>
          <a:ln w="12700">
            <a:solidFill>
              <a:srgbClr val="F5B9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24448" y="3493008"/>
            <a:ext cx="54864" cy="786384"/>
          </a:xfrm>
          <a:prstGeom prst="rect">
            <a:avLst/>
          </a:prstGeom>
          <a:solidFill>
            <a:srgbClr val="F5B94D"/>
          </a:solidFill>
          <a:ln/>
        </p:spPr>
      </p:sp>
      <p:sp>
        <p:nvSpPr>
          <p:cNvPr id="23" name="Text 21"/>
          <p:cNvSpPr/>
          <p:nvPr/>
        </p:nvSpPr>
        <p:spPr>
          <a:xfrm>
            <a:off x="6525616" y="350215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del LLM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43904" y="385876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Habilitar billing de Gemini para uso en producción.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617720"/>
            <a:ext cx="5227168" cy="1005840"/>
          </a:xfrm>
          <a:prstGeom prst="roundRect">
            <a:avLst>
              <a:gd name="adj" fmla="val 7273"/>
            </a:avLst>
          </a:prstGeom>
          <a:solidFill>
            <a:srgbClr val="16171C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727448"/>
            <a:ext cx="54864" cy="78638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473659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del corpus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9536" y="509320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gaps mapa↔corpus con el pipeline de conocimiento.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24448" y="4617720"/>
            <a:ext cx="5227168" cy="1005840"/>
          </a:xfrm>
          <a:prstGeom prst="roundRect">
            <a:avLst>
              <a:gd name="adj" fmla="val 7273"/>
            </a:avLst>
          </a:prstGeom>
          <a:solidFill>
            <a:srgbClr val="16171C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24448" y="4727448"/>
            <a:ext cx="54864" cy="7863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1" name="Text 29"/>
          <p:cNvSpPr/>
          <p:nvPr/>
        </p:nvSpPr>
        <p:spPr>
          <a:xfrm>
            <a:off x="6525616" y="473659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frontend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43904" y="509320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Ampliar cobertura de la app móvil.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931920"/>
            <a:ext cx="4206240" cy="4206240"/>
          </a:xfrm>
          <a:prstGeom prst="roundRect">
            <a:avLst>
              <a:gd name="adj" fmla="val 8696"/>
            </a:avLst>
          </a:prstGeom>
          <a:ln w="19050">
            <a:solidFill>
              <a:srgbClr val="2430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914400"/>
            <a:ext cx="3108960" cy="3108960"/>
          </a:xfrm>
          <a:prstGeom prst="roundRect">
            <a:avLst>
              <a:gd name="adj" fmla="val 11765"/>
            </a:avLst>
          </a:prstGeom>
          <a:ln w="19050">
            <a:solidFill>
              <a:srgbClr val="123C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23774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526280"/>
            <a:ext cx="4206240" cy="0"/>
          </a:xfrm>
          <a:prstGeom prst="line">
            <a:avLst/>
          </a:prstGeom>
          <a:noFill/>
          <a:ln w="12700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4008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Equipo anycodef · UNMSM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 · monorepo (frontend + backend)   ·   backend en Render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A2C35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OndeSanMarcos · Asistente de campus UNMSM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45433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UNMSM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OndeSanMarcos — Presentación final</dc:title>
  <dc:subject>PptxGenJS Presentation</dc:subject>
  <dc:creator>anycodef</dc:creator>
  <cp:lastModifiedBy>anycodef</cp:lastModifiedBy>
  <cp:revision>1</cp:revision>
  <dcterms:created xsi:type="dcterms:W3CDTF">2026-07-18T13:43:34Z</dcterms:created>
  <dcterms:modified xsi:type="dcterms:W3CDTF">2026-07-18T13:43:34Z</dcterms:modified>
</cp:coreProperties>
</file>